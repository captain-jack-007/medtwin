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35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cinematic_high_detail_scene_at_dusk_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30352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8E6FF">
              <a:alpha val="18000"/>
            </a:srgbClr>
          </a:solidFill>
          <a:ln w="8890">
            <a:solidFill>
              <a:srgbClr val="18E6FF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8952" y="626364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NAVOIY PILOT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2029968" y="530352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3AF2BE">
              <a:alpha val="15000"/>
            </a:srgbClr>
          </a:solidFill>
          <a:ln w="8890">
            <a:solidFill>
              <a:srgbClr val="3AF2BE">
                <a:alpha val="4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03120" y="62636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60-SONIYALIK SCAN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58368" y="152704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MedTwin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76656" y="2267712"/>
            <a:ext cx="5074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8E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Diagnostic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8E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Triage Network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" y="37124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Bitta smartfon. Bir daqiqa. To‘g‘ri bemor — to‘g‘ri mutaxassisga.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5800" y="4636008"/>
            <a:ext cx="1417320" cy="502920"/>
          </a:xfrm>
          <a:prstGeom prst="roundRect">
            <a:avLst>
              <a:gd name="adj" fmla="val 9756"/>
            </a:avLst>
          </a:prstGeom>
          <a:solidFill>
            <a:srgbClr val="052033">
              <a:alpha val="94000"/>
            </a:srgbClr>
          </a:solidFill>
          <a:ln w="10160">
            <a:solidFill>
              <a:srgbClr val="18E6FF">
                <a:alpha val="5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67712" y="4636008"/>
            <a:ext cx="1417320" cy="502920"/>
          </a:xfrm>
          <a:prstGeom prst="roundRect">
            <a:avLst>
              <a:gd name="adj" fmla="val 9756"/>
            </a:avLst>
          </a:prstGeom>
          <a:solidFill>
            <a:srgbClr val="052033">
              <a:alpha val="94000"/>
            </a:srgbClr>
          </a:solidFill>
          <a:ln w="10160">
            <a:solidFill>
              <a:srgbClr val="3AF2BE">
                <a:alpha val="5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9624" y="4636008"/>
            <a:ext cx="1417320" cy="502920"/>
          </a:xfrm>
          <a:prstGeom prst="roundRect">
            <a:avLst>
              <a:gd name="adj" fmla="val 9756"/>
            </a:avLst>
          </a:prstGeom>
          <a:solidFill>
            <a:srgbClr val="052033">
              <a:alpha val="94000"/>
            </a:srgbClr>
          </a:solidFill>
          <a:ln w="10160">
            <a:solidFill>
              <a:srgbClr val="8C7CFF">
                <a:alpha val="5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" y="4800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BFF"/>
                </a:solidFill>
              </a:rPr>
              <a:t>Screening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04872" y="48006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BFF"/>
                </a:solidFill>
              </a:rPr>
              <a:t>Digital Twin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96512" y="48006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BFF"/>
                </a:solidFill>
              </a:rPr>
              <a:t>Dispatch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6007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MVP · Rural Healthcare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MUAMMO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Chekka hududlarda yordam kechikadi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Muammo telemedicine emas — muammo shoshilinch bemorni tez ajratib olish.</a:t>
            </a:r>
            <a:endParaRPr lang="en-US" sz="1300" dirty="0"/>
          </a:p>
        </p:txBody>
      </p:sp>
      <p:pic>
        <p:nvPicPr>
          <p:cNvPr id="5" name="Image 0" descr="/mnt/data/wide_cinematic_interior_scene_of_a_rustic_medical.png"/>
          <p:cNvPicPr>
            <a:picLocks noChangeAspect="1"/>
          </p:cNvPicPr>
          <p:nvPr/>
        </p:nvPicPr>
        <p:blipFill>
          <a:blip r:embed="rId3"/>
          <a:srcRect l="5253" r="5253"/>
          <a:stretch/>
        </p:blipFill>
        <p:spPr>
          <a:xfrm>
            <a:off x="7223760" y="667512"/>
            <a:ext cx="443484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667512"/>
            <a:ext cx="4434840" cy="2788920"/>
          </a:xfrm>
          <a:prstGeom prst="roundRect">
            <a:avLst>
              <a:gd name="adj" fmla="val 3279"/>
            </a:avLst>
          </a:prstGeom>
          <a:solidFill>
            <a:srgbClr val="000000">
              <a:alpha val="0"/>
            </a:srgbClr>
          </a:solidFill>
          <a:ln w="13970">
            <a:solidFill>
              <a:srgbClr val="18E6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3768" y="1920239"/>
            <a:ext cx="368648" cy="365747"/>
          </a:xfrm>
          <a:prstGeom prst="ellipse">
            <a:avLst/>
          </a:prstGeom>
          <a:solidFill>
            <a:srgbClr val="18E6FF"/>
          </a:solidFill>
          <a:ln w="12700">
            <a:solidFill>
              <a:srgbClr val="18E6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0798" y="2057414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724"/>
                </a:solidFill>
              </a:rPr>
              <a:t>01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3000" y="18745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BFF"/>
                </a:solidFill>
              </a:rPr>
              <a:t>Mutaxassis yetishmaydi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43000" y="2203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Kardiolog, nevrolog, onkolog va diagnostika qurilmalari har doim joyida emas.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3768" y="3054095"/>
            <a:ext cx="368648" cy="365747"/>
          </a:xfrm>
          <a:prstGeom prst="ellipse">
            <a:avLst/>
          </a:prstGeom>
          <a:solidFill>
            <a:srgbClr val="FF4D5A"/>
          </a:solidFill>
          <a:ln w="12700">
            <a:solidFill>
              <a:srgbClr val="FF4D5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0798" y="3191270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724"/>
                </a:solidFill>
              </a:rPr>
              <a:t>02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43000" y="3008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BFF"/>
                </a:solidFill>
              </a:rPr>
              <a:t>Shoshilinch holat noaniq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43000" y="3337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Qaysi bemor bugun mutaxassisga borishi kerakligini tez ajratish qiyin.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3768" y="4187951"/>
            <a:ext cx="368648" cy="365747"/>
          </a:xfrm>
          <a:prstGeom prst="ellipse">
            <a:avLst/>
          </a:prstGeom>
          <a:solidFill>
            <a:srgbClr val="FFCA3A"/>
          </a:solidFill>
          <a:ln w="12700">
            <a:solidFill>
              <a:srgbClr val="FFCA3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0798" y="4325126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724"/>
                </a:solidFill>
              </a:rPr>
              <a:t>03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3000" y="41422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BFF"/>
                </a:solidFill>
              </a:rPr>
              <a:t>Strukturali ma’lumot yo‘q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43000" y="44714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Shifokor ko‘rganda bemor tarixi, signal sifati va risk darajasi tartiblanmagan.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23760" y="3822192"/>
            <a:ext cx="4434840" cy="1444752"/>
          </a:xfrm>
          <a:prstGeom prst="roundRect">
            <a:avLst>
              <a:gd name="adj" fmla="val 5063"/>
            </a:avLst>
          </a:prstGeom>
          <a:solidFill>
            <a:srgbClr val="210F1B">
              <a:alpha val="94000"/>
            </a:srgbClr>
          </a:solidFill>
          <a:ln w="10160">
            <a:solidFill>
              <a:srgbClr val="FF4D5A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525512" y="4133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D5A"/>
                </a:solidFill>
              </a:rPr>
              <a:t>Natija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516368" y="4462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BFF"/>
                </a:solidFill>
              </a:rPr>
              <a:t>Bemor → mutaxassis yo‘q → yordam kechikadi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525512" y="49194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ED0"/>
                </a:solidFill>
              </a:rPr>
              <a:t>MedTwin kechikish zanjirini “scan → triage → dispatch” bilan qisqartiradi.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YECHIM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 daqiqalik klinik yo‘naltirish oqimi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Smartfon signallari Digital Twin’ga aylanadi, AI riskni ajratadi, tizim klinikaga yo‘naltiradi.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" y="210312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0B2A3E">
              <a:alpha val="94000"/>
            </a:srgbClr>
          </a:solidFill>
          <a:ln w="10160">
            <a:solidFill>
              <a:srgbClr val="18E6FF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3172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8E6FF">
              <a:alpha val="16000"/>
            </a:srgbClr>
          </a:solidFill>
          <a:ln w="8890">
            <a:solidFill>
              <a:srgbClr val="18E6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0487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BEMOR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BFF"/>
                </a:solidFill>
              </a:rPr>
              <a:t>60s Scan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1821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Alomatlar + kamera + mikrofon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4254" y="2395727"/>
            <a:ext cx="377818" cy="365761"/>
          </a:xfrm>
          <a:prstGeom prst="ellipse">
            <a:avLst/>
          </a:prstGeom>
          <a:solidFill>
            <a:srgbClr val="18E6FF"/>
          </a:solidFill>
          <a:ln w="12700">
            <a:solidFill>
              <a:srgbClr val="18E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0666" y="2556891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724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27832" y="3108960"/>
            <a:ext cx="146304" cy="0"/>
          </a:xfrm>
          <a:prstGeom prst="line">
            <a:avLst/>
          </a:prstGeom>
          <a:noFill/>
          <a:ln w="15240">
            <a:solidFill>
              <a:srgbClr val="18E6FF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19856" y="210312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0A2F35">
              <a:alpha val="94000"/>
            </a:srgbClr>
          </a:solidFill>
          <a:ln w="10160">
            <a:solidFill>
              <a:srgbClr val="3AF2BE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48456" y="233172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AF2BE">
              <a:alpha val="16000"/>
            </a:srgbClr>
          </a:solidFill>
          <a:ln w="8890">
            <a:solidFill>
              <a:srgbClr val="3AF2B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40487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3648456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BFF"/>
                </a:solidFill>
              </a:rPr>
              <a:t>Digital Twin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48456" y="31821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Signal sifati + raqamli profil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00022" y="2395727"/>
            <a:ext cx="377818" cy="365761"/>
          </a:xfrm>
          <a:prstGeom prst="ellipse">
            <a:avLst/>
          </a:prstGeom>
          <a:solidFill>
            <a:srgbClr val="3AF2BE"/>
          </a:solidFill>
          <a:ln w="12700">
            <a:solidFill>
              <a:srgbClr val="3AF2B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6634" y="2538454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724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146304" cy="0"/>
          </a:xfrm>
          <a:prstGeom prst="line">
            <a:avLst/>
          </a:prstGeom>
          <a:noFill/>
          <a:ln w="15240">
            <a:solidFill>
              <a:srgbClr val="18E6FF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35624" y="210312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352A08">
              <a:alpha val="94000"/>
            </a:srgbClr>
          </a:solidFill>
          <a:ln w="10160">
            <a:solidFill>
              <a:srgbClr val="FFCA3A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4224" y="233172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CA3A">
              <a:alpha val="16000"/>
            </a:srgbClr>
          </a:solidFill>
          <a:ln w="8890">
            <a:solidFill>
              <a:srgbClr val="FFCA3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40487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QAROR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6364224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BFF"/>
                </a:solidFill>
              </a:rPr>
              <a:t>AI Triage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64224" y="31821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GREEN / YELLOW / RED risk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99400" y="2395727"/>
            <a:ext cx="394208" cy="365761"/>
          </a:xfrm>
          <a:prstGeom prst="ellipse">
            <a:avLst/>
          </a:prstGeom>
          <a:solidFill>
            <a:srgbClr val="FFCA3A"/>
          </a:solidFill>
          <a:ln w="12700">
            <a:solidFill>
              <a:srgbClr val="FFCA3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6052" y="254810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724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59368" y="3108960"/>
            <a:ext cx="146304" cy="0"/>
          </a:xfrm>
          <a:prstGeom prst="line">
            <a:avLst/>
          </a:prstGeom>
          <a:noFill/>
          <a:ln w="15240">
            <a:solidFill>
              <a:srgbClr val="18E6FF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51392" y="210312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211C40">
              <a:alpha val="94000"/>
            </a:srgbClr>
          </a:solidFill>
          <a:ln w="10160">
            <a:solidFill>
              <a:srgbClr val="8C7CFF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79992" y="233172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8C7CFF">
              <a:alpha val="16000"/>
            </a:srgbClr>
          </a:solidFill>
          <a:ln w="8890">
            <a:solidFill>
              <a:srgbClr val="8C7C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3144" y="240487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YECHIM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9079992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BFF"/>
                </a:solidFill>
              </a:rPr>
              <a:t>Doctor / Clinic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79992" y="31821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ED0"/>
                </a:solidFill>
              </a:rPr>
              <a:t>Klinik brief + dispatch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652125" y="2395727"/>
            <a:ext cx="357251" cy="365761"/>
          </a:xfrm>
          <a:prstGeom prst="ellipse">
            <a:avLst/>
          </a:prstGeom>
          <a:solidFill>
            <a:srgbClr val="8C7CFF"/>
          </a:solidFill>
          <a:ln w="12700">
            <a:solidFill>
              <a:srgbClr val="8C7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62488" y="254277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724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3232" y="4773168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062335">
              <a:alpha val="94000"/>
            </a:srgbClr>
          </a:solidFill>
          <a:ln w="10160">
            <a:solidFill>
              <a:srgbClr val="18E6FF">
                <a:alpha val="3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60120" y="49834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BFF"/>
                </a:solidFill>
              </a:rPr>
              <a:t>Shifokorni almashtirmaydi. Tashxis qo‘ymaydi. Klinik qarorni tezlashtiradi.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5321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A7BED0"/>
                </a:solidFill>
              </a:rPr>
              <a:t>Demo xavfsizligi: sintetik bemorlar, lokal preprocessing, klinik xavfsizlik protokoli.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MVP 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39007" y="749808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 soniya ichida ko‘rinadigan mahsulot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Hakamlar slayddan emas, real oqimdan eslab qolishi kerak: scan, signal, risk, dispatch.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148840" cy="3886200"/>
          </a:xfrm>
          <a:prstGeom prst="roundRect">
            <a:avLst>
              <a:gd name="adj" fmla="val 4255"/>
            </a:avLst>
          </a:prstGeom>
          <a:solidFill>
            <a:srgbClr val="091A28"/>
          </a:solidFill>
          <a:ln w="13970">
            <a:solidFill>
              <a:srgbClr val="18E6FF">
                <a:alpha val="60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20240"/>
            <a:ext cx="2002536" cy="3611880"/>
          </a:xfrm>
          <a:prstGeom prst="roundRect">
            <a:avLst>
              <a:gd name="adj" fmla="val 3653"/>
            </a:avLst>
          </a:prstGeom>
          <a:solidFill>
            <a:srgbClr val="0B2232"/>
          </a:solidFill>
          <a:ln w="6350">
            <a:solidFill>
              <a:srgbClr val="1B455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3566" y="1837944"/>
            <a:ext cx="687629" cy="45720"/>
          </a:xfrm>
          <a:prstGeom prst="roundRect">
            <a:avLst>
              <a:gd name="adj" fmla="val 40000"/>
            </a:avLst>
          </a:prstGeom>
          <a:solidFill>
            <a:srgbClr val="152B3A"/>
          </a:solidFill>
          <a:ln w="12700">
            <a:solidFill>
              <a:srgbClr val="152B3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BFF"/>
                </a:solidFill>
              </a:rPr>
              <a:t>MedTwin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BFF"/>
                </a:solidFill>
              </a:rPr>
              <a:t>Scan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36192" y="2944368"/>
            <a:ext cx="713232" cy="713232"/>
          </a:xfrm>
          <a:prstGeom prst="ellipse">
            <a:avLst/>
          </a:prstGeom>
          <a:solidFill>
            <a:srgbClr val="18E6FF">
              <a:alpha val="16000"/>
            </a:srgbClr>
          </a:solidFill>
          <a:ln w="13970">
            <a:solidFill>
              <a:srgbClr val="18E6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3258445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E6FF"/>
                </a:solidFill>
              </a:rPr>
              <a:t>60s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53312" y="2761488"/>
            <a:ext cx="1078992" cy="1078992"/>
          </a:xfrm>
          <a:prstGeom prst="arc">
            <a:avLst/>
          </a:prstGeom>
          <a:noFill/>
          <a:ln w="15240">
            <a:solidFill>
              <a:srgbClr val="18E6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941064"/>
            <a:ext cx="64008" cy="64008"/>
          </a:xfrm>
          <a:prstGeom prst="ellipse">
            <a:avLst/>
          </a:prstGeom>
          <a:solidFill>
            <a:srgbClr val="3AF2BE"/>
          </a:solidFill>
          <a:ln w="12700">
            <a:solidFill>
              <a:srgbClr val="3AF2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88620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Symptoms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97280" y="4251960"/>
            <a:ext cx="64008" cy="64008"/>
          </a:xfrm>
          <a:prstGeom prst="ellipse">
            <a:avLst/>
          </a:prstGeom>
          <a:solidFill>
            <a:srgbClr val="3AF2BE"/>
          </a:solidFill>
          <a:ln w="12700">
            <a:solidFill>
              <a:srgbClr val="3AF2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19709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Face &amp; breath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97280" y="4562856"/>
            <a:ext cx="64008" cy="64008"/>
          </a:xfrm>
          <a:prstGeom prst="ellipse">
            <a:avLst/>
          </a:prstGeom>
          <a:solidFill>
            <a:srgbClr val="3AF2BE"/>
          </a:solidFill>
          <a:ln w="12700">
            <a:solidFill>
              <a:srgbClr val="3AF2B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5079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Camera PPG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97280" y="4873752"/>
            <a:ext cx="64008" cy="64008"/>
          </a:xfrm>
          <a:prstGeom prst="ellipse">
            <a:avLst/>
          </a:prstGeom>
          <a:solidFill>
            <a:srgbClr val="3AF2BE"/>
          </a:solidFill>
          <a:ln w="12700">
            <a:solidFill>
              <a:srgbClr val="3AF2B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8188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Speech task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5184648"/>
            <a:ext cx="64008" cy="64008"/>
          </a:xfrm>
          <a:prstGeom prst="ellipse">
            <a:avLst/>
          </a:prstGeom>
          <a:solidFill>
            <a:srgbClr val="FFCA3A"/>
          </a:solidFill>
          <a:ln w="12700">
            <a:solidFill>
              <a:srgbClr val="FFCA3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1297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Quality gate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03320" y="1783080"/>
            <a:ext cx="3246120" cy="941832"/>
          </a:xfrm>
          <a:prstGeom prst="roundRect">
            <a:avLst>
              <a:gd name="adj" fmla="val 7767"/>
            </a:avLst>
          </a:prstGeom>
          <a:solidFill>
            <a:srgbClr val="0B2536">
              <a:alpha val="94000"/>
            </a:srgbClr>
          </a:solidFill>
          <a:ln w="10160">
            <a:solidFill>
              <a:srgbClr val="18E6FF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67912" y="20208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E6FF"/>
                </a:solidFill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70248" y="19476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BFF"/>
                </a:solidFill>
              </a:rPr>
              <a:t>Alomatlar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270248" y="2258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7BED0"/>
                </a:solidFill>
              </a:rPr>
              <a:t>Hozirgi belgilarni tanlash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5897880" y="194767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8E6FF">
              <a:alpha val="16000"/>
            </a:srgbClr>
          </a:solidFill>
          <a:ln w="8890">
            <a:solidFill>
              <a:srgbClr val="18E6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202082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KIRISH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7406640" y="1783080"/>
            <a:ext cx="3246120" cy="941832"/>
          </a:xfrm>
          <a:prstGeom prst="roundRect">
            <a:avLst>
              <a:gd name="adj" fmla="val 7767"/>
            </a:avLst>
          </a:prstGeom>
          <a:solidFill>
            <a:srgbClr val="0B2536">
              <a:alpha val="94000"/>
            </a:srgbClr>
          </a:solidFill>
          <a:ln w="10160">
            <a:solidFill>
              <a:srgbClr val="3AF2B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71232" y="20208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F2BE"/>
                </a:solidFill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73568" y="19476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BFF"/>
                </a:solidFill>
              </a:rPr>
              <a:t>Yuz &amp; nafas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973568" y="2258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7BED0"/>
                </a:solidFill>
              </a:rPr>
              <a:t>Yuz simmetriyasi + nafas ritmi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9601200" y="194767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AF2BE">
              <a:alpha val="16000"/>
            </a:srgbClr>
          </a:solidFill>
          <a:ln w="8890">
            <a:solidFill>
              <a:srgbClr val="3AF2BE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74352" y="202082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KAMERA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3703320" y="3108960"/>
            <a:ext cx="3246120" cy="941832"/>
          </a:xfrm>
          <a:prstGeom prst="roundRect">
            <a:avLst>
              <a:gd name="adj" fmla="val 7767"/>
            </a:avLst>
          </a:prstGeom>
          <a:solidFill>
            <a:srgbClr val="0B2536">
              <a:alpha val="94000"/>
            </a:srgbClr>
          </a:solidFill>
          <a:ln w="10160">
            <a:solidFill>
              <a:srgbClr val="FFCA3A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67912" y="33467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A3A"/>
                </a:solidFill>
              </a:rPr>
              <a:t>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70248" y="32735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BFF"/>
                </a:solidFill>
              </a:rPr>
              <a:t>Puls · PPG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270248" y="35844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7BED0"/>
                </a:solidFill>
              </a:rPr>
              <a:t>Barmoq orqali kamera PPG signali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5897880" y="327355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FCA3A">
              <a:alpha val="16000"/>
            </a:srgbClr>
          </a:solidFill>
          <a:ln w="8890">
            <a:solidFill>
              <a:srgbClr val="FFCA3A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71032" y="33467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PPG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7406640" y="3108960"/>
            <a:ext cx="3246120" cy="941832"/>
          </a:xfrm>
          <a:prstGeom prst="roundRect">
            <a:avLst>
              <a:gd name="adj" fmla="val 7767"/>
            </a:avLst>
          </a:prstGeom>
          <a:solidFill>
            <a:srgbClr val="0B2536">
              <a:alpha val="94000"/>
            </a:srgbClr>
          </a:solidFill>
          <a:ln w="10160">
            <a:solidFill>
              <a:srgbClr val="8C7CFF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71232" y="33467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7CFF"/>
                </a:solidFill>
              </a:rPr>
              <a:t>04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73568" y="32735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BFF"/>
                </a:solidFill>
              </a:rPr>
              <a:t>Nutq vazifasi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973568" y="35844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7BED0"/>
                </a:solidFill>
              </a:rPr>
              <a:t>Ovoz faolligi va audio sifati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9601200" y="327355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7CFF">
              <a:alpha val="16000"/>
            </a:srgbClr>
          </a:solidFill>
          <a:ln w="8890">
            <a:solidFill>
              <a:srgbClr val="8C7CFF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74352" y="33467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MIKROFON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3703320" y="4434840"/>
            <a:ext cx="3246120" cy="941832"/>
          </a:xfrm>
          <a:prstGeom prst="roundRect">
            <a:avLst>
              <a:gd name="adj" fmla="val 7767"/>
            </a:avLst>
          </a:prstGeom>
          <a:solidFill>
            <a:srgbClr val="0B2536">
              <a:alpha val="94000"/>
            </a:srgbClr>
          </a:solidFill>
          <a:ln w="10160">
            <a:solidFill>
              <a:srgbClr val="2EF2A3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67912" y="46725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F2A3"/>
                </a:solidFill>
              </a:rPr>
              <a:t>05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70248" y="45994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BFF"/>
                </a:solidFill>
              </a:rPr>
              <a:t>Sifat + Twin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270248" y="49103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7BED0"/>
                </a:solidFill>
              </a:rPr>
              <a:t>O‘lchovlar Digital Twin’ga yoziladi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5897880" y="459943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EF2A3">
              <a:alpha val="16000"/>
            </a:srgbClr>
          </a:solidFill>
          <a:ln w="8890">
            <a:solidFill>
              <a:srgbClr val="2EF2A3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71032" y="467258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NATIJA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7406640" y="4434840"/>
            <a:ext cx="3474720" cy="896112"/>
          </a:xfrm>
          <a:prstGeom prst="roundRect">
            <a:avLst>
              <a:gd name="adj" fmla="val 8163"/>
            </a:avLst>
          </a:prstGeom>
          <a:solidFill>
            <a:srgbClr val="083025">
              <a:alpha val="94000"/>
            </a:srgbClr>
          </a:solidFill>
          <a:ln w="10160">
            <a:solidFill>
              <a:srgbClr val="2EF2A3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635240" y="46817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F2A3"/>
                </a:solidFill>
              </a:rPr>
              <a:t>Output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85632" y="46451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FBFF"/>
                </a:solidFill>
              </a:rPr>
              <a:t>Clinical brief + triage risk + dispatch queue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WOW FUNCTION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Twin + dori xavfsizligi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bemorning profili asosida dorilarni rangli risk bilan solishtiradi: safe, not recommended, dangerous.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200400" cy="3977640"/>
          </a:xfrm>
          <a:prstGeom prst="roundRect">
            <a:avLst>
              <a:gd name="adj" fmla="val 2286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18E6FF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DIGITAL TWIN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1664208" y="2468880"/>
            <a:ext cx="1463040" cy="1463040"/>
          </a:xfrm>
          <a:prstGeom prst="ellipse">
            <a:avLst/>
          </a:prstGeom>
          <a:solidFill>
            <a:srgbClr val="18E6FF">
              <a:alpha val="12000"/>
            </a:srgbClr>
          </a:solidFill>
          <a:ln w="13970">
            <a:solidFill>
              <a:srgbClr val="18E6F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2212848"/>
            <a:ext cx="1993392" cy="1993392"/>
          </a:xfrm>
          <a:prstGeom prst="arc">
            <a:avLst/>
          </a:prstGeom>
          <a:noFill/>
          <a:ln w="12700">
            <a:solidFill>
              <a:srgbClr val="3AF2B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5298" y="2870023"/>
            <a:ext cx="137160" cy="777240"/>
          </a:xfrm>
          <a:prstGeom prst="rect">
            <a:avLst/>
          </a:prstGeom>
          <a:solidFill>
            <a:srgbClr val="18E6FF"/>
          </a:solidFill>
          <a:ln w="12700">
            <a:solidFill>
              <a:srgbClr val="18E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5258" y="3171775"/>
            <a:ext cx="777240" cy="137160"/>
          </a:xfrm>
          <a:prstGeom prst="rect">
            <a:avLst/>
          </a:prstGeom>
          <a:solidFill>
            <a:srgbClr val="18E6FF"/>
          </a:solidFill>
          <a:ln w="12700">
            <a:solidFill>
              <a:srgbClr val="18E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4370832"/>
            <a:ext cx="1005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A7BED0"/>
                </a:solidFill>
              </a:rPr>
              <a:t>Pulse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069848" y="45354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BFF"/>
                </a:solidFill>
              </a:rPr>
              <a:t>96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41448" y="4370832"/>
            <a:ext cx="1005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A7BED0"/>
                </a:solidFill>
              </a:rPr>
              <a:t>BP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2441448" y="45354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BFF"/>
                </a:solidFill>
              </a:rPr>
              <a:t>150/95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69848" y="4937760"/>
            <a:ext cx="1005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A7BED0"/>
                </a:solidFill>
              </a:rPr>
              <a:t>SpO₂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069848" y="51023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BFF"/>
                </a:solidFill>
              </a:rPr>
              <a:t>93%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41448" y="4937760"/>
            <a:ext cx="1005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A7BED0"/>
                </a:solidFill>
              </a:rPr>
              <a:t>Risk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2441448" y="51023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CA3A"/>
                </a:solidFill>
              </a:rPr>
              <a:t>YELLOW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87952" y="3749040"/>
            <a:ext cx="795528" cy="0"/>
          </a:xfrm>
          <a:prstGeom prst="line">
            <a:avLst/>
          </a:prstGeom>
          <a:noFill/>
          <a:ln w="19050">
            <a:solidFill>
              <a:srgbClr val="18E6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38928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092234">
              <a:alpha val="94000"/>
            </a:srgbClr>
          </a:solidFill>
          <a:ln w="10160">
            <a:solidFill>
              <a:srgbClr val="3AF2B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13248" y="1993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3AF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 COMPARISON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440680" y="2487168"/>
            <a:ext cx="4315968" cy="621792"/>
          </a:xfrm>
          <a:prstGeom prst="roundRect">
            <a:avLst>
              <a:gd name="adj" fmla="val 10294"/>
            </a:avLst>
          </a:prstGeom>
          <a:solidFill>
            <a:srgbClr val="073322">
              <a:alpha val="95000"/>
            </a:srgbClr>
          </a:solidFill>
          <a:ln w="12700">
            <a:solidFill>
              <a:srgbClr val="2EF2A3">
                <a:alpha val="5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50992" y="2660904"/>
            <a:ext cx="256032" cy="256032"/>
          </a:xfrm>
          <a:prstGeom prst="ellipse">
            <a:avLst/>
          </a:prstGeom>
          <a:solidFill>
            <a:srgbClr val="2EF2A3"/>
          </a:solidFill>
          <a:ln w="12700">
            <a:solidFill>
              <a:srgbClr val="2EF2A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2615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BFF"/>
                </a:solidFill>
              </a:rPr>
              <a:t>Amoxicillin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42048" y="262432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EF2A3"/>
                </a:solidFill>
              </a:rPr>
              <a:t>SAFE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8613648" y="260604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2EF2A3">
              <a:alpha val="16000"/>
            </a:srgbClr>
          </a:solidFill>
          <a:ln w="8890">
            <a:solidFill>
              <a:srgbClr val="2EF2A3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679192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6016752" y="2880360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A7BED0"/>
                </a:solidFill>
              </a:rPr>
              <a:t>Mos keladi: allergiya yo‘q, asosiy vitallar barqaror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5440680" y="3328416"/>
            <a:ext cx="4315968" cy="621792"/>
          </a:xfrm>
          <a:prstGeom prst="roundRect">
            <a:avLst>
              <a:gd name="adj" fmla="val 10294"/>
            </a:avLst>
          </a:prstGeom>
          <a:solidFill>
            <a:srgbClr val="272C32">
              <a:alpha val="95000"/>
            </a:srgbClr>
          </a:solidFill>
          <a:ln w="12700">
            <a:solidFill>
              <a:srgbClr val="7E8A99">
                <a:alpha val="5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0992" y="3502152"/>
            <a:ext cx="256032" cy="256032"/>
          </a:xfrm>
          <a:prstGeom prst="ellipse">
            <a:avLst/>
          </a:prstGeom>
          <a:solidFill>
            <a:srgbClr val="7E8A99"/>
          </a:solidFill>
          <a:ln w="12700">
            <a:solidFill>
              <a:srgbClr val="7E8A9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6752" y="34564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BFF"/>
                </a:solidFill>
              </a:rPr>
              <a:t>Ibuprofen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346557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7E8A99"/>
                </a:solidFill>
              </a:rPr>
              <a:t>NOT RECOMMENDED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613648" y="347472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E8A99"/>
                </a:solidFill>
              </a:rPr>
              <a:t>Caution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016752" y="3721608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A7BED0"/>
                </a:solidFill>
              </a:rPr>
              <a:t>Qon bosimi yuqori: shifokor tekshiruvi kerak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440680" y="4169664"/>
            <a:ext cx="4315968" cy="621792"/>
          </a:xfrm>
          <a:prstGeom prst="roundRect">
            <a:avLst>
              <a:gd name="adj" fmla="val 10294"/>
            </a:avLst>
          </a:prstGeom>
          <a:solidFill>
            <a:srgbClr val="32161D">
              <a:alpha val="95000"/>
            </a:srgbClr>
          </a:solidFill>
          <a:ln w="12700">
            <a:solidFill>
              <a:srgbClr val="FF4D5A">
                <a:alpha val="5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50992" y="4343400"/>
            <a:ext cx="256032" cy="256032"/>
          </a:xfrm>
          <a:prstGeom prst="ellipse">
            <a:avLst/>
          </a:prstGeom>
          <a:solidFill>
            <a:srgbClr val="FF4D5A"/>
          </a:solidFill>
          <a:ln w="12700">
            <a:solidFill>
              <a:srgbClr val="FF4D5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42976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BFF"/>
                </a:solidFill>
              </a:rPr>
              <a:t>Drug 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42048" y="430682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4D5A"/>
                </a:solidFill>
              </a:rPr>
              <a:t>DANGEROUS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8613648" y="431596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4D5A"/>
                </a:solidFill>
              </a:rPr>
              <a:t>Avoid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016752" y="4562856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A7BED0"/>
                </a:solidFill>
              </a:rPr>
              <a:t>Kontraindikatsiya: bemor profili bilan mos emas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5440680" y="5120640"/>
            <a:ext cx="4315968" cy="329184"/>
          </a:xfrm>
          <a:prstGeom prst="roundRect">
            <a:avLst>
              <a:gd name="adj" fmla="val 22222"/>
            </a:avLst>
          </a:prstGeom>
          <a:solidFill>
            <a:srgbClr val="20150B">
              <a:alpha val="94000"/>
            </a:srgbClr>
          </a:solidFill>
          <a:ln w="10160">
            <a:solidFill>
              <a:srgbClr val="FFCA3A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5230368"/>
            <a:ext cx="3950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CA3A"/>
                </a:solidFill>
              </a:rPr>
              <a:t>Triage + safety advisor, prescription emas: shifokor yakuniy qaror beradi.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futuristic_high_tech_data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CONTROL TOWER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Navoiy uchun real-time dispatch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Qishloqdan kelgan risklar xaritada ko‘rinadi — yuqori xavfli bemor navbatda yo‘qolmaydi.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86384" y="224028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2EF2A3">
                <a:alpha val="4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7552" y="2423160"/>
            <a:ext cx="118872" cy="118872"/>
          </a:xfrm>
          <a:prstGeom prst="ellipse">
            <a:avLst/>
          </a:prstGeom>
          <a:solidFill>
            <a:srgbClr val="2EF2A3"/>
          </a:solidFill>
          <a:ln w="12700">
            <a:solidFill>
              <a:srgbClr val="2EF2A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07008" y="237744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EF2A3"/>
                </a:solidFill>
              </a:rPr>
              <a:t>GREEN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2084832" y="2377440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BFF"/>
                </a:solidFill>
              </a:rPr>
              <a:t>Routine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86384" y="294436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FFCA3A">
                <a:alpha val="4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3127248"/>
            <a:ext cx="118872" cy="118872"/>
          </a:xfrm>
          <a:prstGeom prst="ellipse">
            <a:avLst/>
          </a:prstGeom>
          <a:solidFill>
            <a:srgbClr val="FFCA3A"/>
          </a:solidFill>
          <a:ln w="12700">
            <a:solidFill>
              <a:srgbClr val="FFCA3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308152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CA3A"/>
                </a:solidFill>
              </a:rPr>
              <a:t>YELLOW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2084832" y="308152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BFF"/>
                </a:solidFill>
              </a:rPr>
              <a:t>Follow-up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86384" y="364845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FF4D5A">
                <a:alpha val="4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7552" y="3831336"/>
            <a:ext cx="118872" cy="118872"/>
          </a:xfrm>
          <a:prstGeom prst="ellipse">
            <a:avLst/>
          </a:prstGeom>
          <a:solidFill>
            <a:srgbClr val="FF4D5A"/>
          </a:solidFill>
          <a:ln w="12700">
            <a:solidFill>
              <a:srgbClr val="FF4D5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378561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4D5A"/>
                </a:solidFill>
              </a:rPr>
              <a:t>RED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2084832" y="378561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BFF"/>
                </a:solidFill>
              </a:rPr>
              <a:t>Urgent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6384" y="4626864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0A2A3D">
              <a:alpha val="94000"/>
            </a:srgbClr>
          </a:solidFill>
          <a:ln w="10160">
            <a:solidFill>
              <a:srgbClr val="18E6FF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" y="48371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4FBFF"/>
                </a:solidFill>
              </a:rPr>
              <a:t>Uchquduq Station → MedTwin Cloud → Navoiy Control Tower → Mutaxassis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— HEALTH STATION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 qishloqqa “AI tibbiy bankomat”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Shifokor yetishmaydigan joyda asosiy diagnostika infratuzilmasi turadi, mutaxassis esa masofadan ulanadi.</a:t>
            </a:r>
            <a:endParaRPr lang="en-US" sz="1300" dirty="0"/>
          </a:p>
        </p:txBody>
      </p:sp>
      <p:pic>
        <p:nvPicPr>
          <p:cNvPr id="5" name="Image 0" descr="/mnt/data/a_clean_modern_medical_clinic_interior_scene_sli.png"/>
          <p:cNvPicPr>
            <a:picLocks noChangeAspect="1"/>
          </p:cNvPicPr>
          <p:nvPr/>
        </p:nvPicPr>
        <p:blipFill>
          <a:blip r:embed="rId3"/>
          <a:srcRect l="106" r="106"/>
          <a:stretch/>
        </p:blipFill>
        <p:spPr>
          <a:xfrm>
            <a:off x="713232" y="1600200"/>
            <a:ext cx="4572000" cy="2578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" y="1600200"/>
            <a:ext cx="4572000" cy="2578608"/>
          </a:xfrm>
          <a:prstGeom prst="roundRect">
            <a:avLst>
              <a:gd name="adj" fmla="val 3546"/>
            </a:avLst>
          </a:prstGeom>
          <a:solidFill>
            <a:srgbClr val="000000">
              <a:alpha val="0"/>
            </a:srgbClr>
          </a:solidFill>
          <a:ln w="13970">
            <a:solidFill>
              <a:srgbClr val="18E6FF">
                <a:alpha val="5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0" y="1700784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82880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F2BE"/>
                </a:solidFill>
              </a:rPr>
              <a:t>EKG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73368" y="1837944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Yurak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452360" y="1700784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182880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F2BE"/>
                </a:solidFill>
              </a:rPr>
              <a:t>BP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110728" y="1837944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Qon bosimi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9189720" y="1700784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182880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F2BE"/>
                </a:solidFill>
              </a:rPr>
              <a:t>SpO₂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848088" y="1837944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Kislorod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715000" y="2487168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F2BE"/>
                </a:solidFill>
              </a:rPr>
              <a:t>TEMP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373368" y="2624328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Harorat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7452360" y="2487168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F2BE"/>
                </a:solidFill>
              </a:rPr>
              <a:t>BMI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110728" y="2624328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Vazn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9189720" y="2487168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0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F2BE"/>
                </a:solidFill>
              </a:rPr>
              <a:t>RR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848088" y="2624328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Nafas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5715000" y="3273552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FFCA3A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34015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A3A"/>
                </a:solidFill>
              </a:rPr>
              <a:t>POC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73368" y="3410712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A7BED0"/>
                </a:solidFill>
              </a:rPr>
              <a:t>Opsiya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758952" y="473659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62335">
              <a:alpha val="94000"/>
            </a:srgbClr>
          </a:solidFill>
          <a:ln w="10160">
            <a:solidFill>
              <a:srgbClr val="18E6FF">
                <a:alpha val="3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1832" y="4974336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E6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88720" y="494690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4FBFF"/>
                </a:solidFill>
              </a:rPr>
              <a:t>Walk in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395728" y="5020056"/>
            <a:ext cx="402336" cy="0"/>
          </a:xfrm>
          <a:prstGeom prst="line">
            <a:avLst/>
          </a:prstGeom>
          <a:noFill/>
          <a:ln w="1270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907792" y="473659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62335">
              <a:alpha val="94000"/>
            </a:srgbClr>
          </a:solidFill>
          <a:ln w="10160">
            <a:solidFill>
              <a:srgbClr val="18E6FF">
                <a:alpha val="3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90672" y="4974336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E6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337560" y="494690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4FBFF"/>
                </a:solidFill>
              </a:rPr>
              <a:t>Auto scan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44568" y="5020056"/>
            <a:ext cx="402336" cy="0"/>
          </a:xfrm>
          <a:prstGeom prst="line">
            <a:avLst/>
          </a:prstGeom>
          <a:noFill/>
          <a:ln w="1270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056632" y="473659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62335">
              <a:alpha val="94000"/>
            </a:srgbClr>
          </a:solidFill>
          <a:ln w="10160">
            <a:solidFill>
              <a:srgbClr val="18E6FF">
                <a:alpha val="3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39512" y="4974336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E6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0" y="494690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4FBFF"/>
                </a:solidFill>
              </a:rPr>
              <a:t>Twin update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693408" y="5020056"/>
            <a:ext cx="402336" cy="0"/>
          </a:xfrm>
          <a:prstGeom prst="line">
            <a:avLst/>
          </a:prstGeom>
          <a:noFill/>
          <a:ln w="1270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205472" y="473659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62335">
              <a:alpha val="94000"/>
            </a:srgbClr>
          </a:solidFill>
          <a:ln w="10160">
            <a:solidFill>
              <a:srgbClr val="FFCA3A">
                <a:alpha val="3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88352" y="4974336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A3A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635240" y="494690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4FBFF"/>
                </a:solidFill>
              </a:rPr>
              <a:t>AI triage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842248" y="5020056"/>
            <a:ext cx="402336" cy="0"/>
          </a:xfrm>
          <a:prstGeom prst="line">
            <a:avLst/>
          </a:prstGeom>
          <a:noFill/>
          <a:ln w="1270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9354312" y="473659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62335">
              <a:alpha val="94000"/>
            </a:srgbClr>
          </a:solidFill>
          <a:ln w="10160">
            <a:solidFill>
              <a:srgbClr val="18E6FF">
                <a:alpha val="3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537192" y="4974336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E6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9784080" y="494690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4FBFF"/>
                </a:solidFill>
              </a:rPr>
              <a:t>Control Tower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86384" y="56235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BFF"/>
                </a:solidFill>
              </a:rPr>
              <a:t>Har qishloqqa shifokor qo‘yish o‘rniga — har qishloqqa standartlashtirilgan screening nuqtasi.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50" name="Text 47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— RAQOBAT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MedTwin oddiy chatbot emas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Bizning farq: signal + twin + triage + dispatch + clinic brief bitta oqimda.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176479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b="1" dirty="0">
                <a:solidFill>
                  <a:srgbClr val="A7BED0"/>
                </a:solidFill>
              </a:rPr>
              <a:t>Capability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4023360" y="172821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E6FF"/>
                </a:solidFill>
              </a:rPr>
              <a:t>MedTwin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0" y="172821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BED0"/>
                </a:solidFill>
              </a:rPr>
              <a:t>Telemedicine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63840" y="172821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BED0"/>
                </a:solidFill>
              </a:rPr>
              <a:t>Chatbot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784080" y="172821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BED0"/>
                </a:solidFill>
              </a:rPr>
              <a:t>Health scan 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2386584"/>
            <a:ext cx="10058400" cy="0"/>
          </a:xfrm>
          <a:prstGeom prst="line">
            <a:avLst/>
          </a:prstGeom>
          <a:noFill/>
          <a:ln w="5080">
            <a:solidFill>
              <a:srgbClr val="2D4960">
                <a:alpha val="3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03120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4FBFF"/>
                </a:solidFill>
              </a:rPr>
              <a:t>Smartphone health scan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773168" y="20482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F2A3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3408" y="20482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13648" y="20482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33888" y="20482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8A99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2907792"/>
            <a:ext cx="10058400" cy="0"/>
          </a:xfrm>
          <a:prstGeom prst="line">
            <a:avLst/>
          </a:prstGeom>
          <a:noFill/>
          <a:ln w="5080">
            <a:solidFill>
              <a:srgbClr val="2D4960">
                <a:alpha val="3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62432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4FBFF"/>
                </a:solidFill>
              </a:rPr>
              <a:t>Digital Health Twin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773168" y="25694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F2A3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25694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13648" y="25694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33888" y="25694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3429000"/>
            <a:ext cx="10058400" cy="0"/>
          </a:xfrm>
          <a:prstGeom prst="line">
            <a:avLst/>
          </a:prstGeom>
          <a:noFill/>
          <a:ln w="5080">
            <a:solidFill>
              <a:srgbClr val="2D4960">
                <a:alpha val="3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14553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4FBFF"/>
                </a:solidFill>
              </a:rPr>
              <a:t>AI triage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773168" y="30906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F2A3"/>
                </a:solidFill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13648" y="30906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33888" y="30906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" y="3950208"/>
            <a:ext cx="10058400" cy="0"/>
          </a:xfrm>
          <a:prstGeom prst="line">
            <a:avLst/>
          </a:prstGeom>
          <a:noFill/>
          <a:ln w="5080">
            <a:solidFill>
              <a:srgbClr val="2D4960">
                <a:alpha val="3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366674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4FBFF"/>
                </a:solidFill>
              </a:rPr>
              <a:t>Remote doctor brief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773168" y="361188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F2A3"/>
                </a:solidFill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93408" y="361188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A3A"/>
                </a:solidFill>
              </a:rPr>
              <a:t>~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13648" y="361188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33888" y="361188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68680" y="4471416"/>
            <a:ext cx="10058400" cy="0"/>
          </a:xfrm>
          <a:prstGeom prst="line">
            <a:avLst/>
          </a:prstGeom>
          <a:noFill/>
          <a:ln w="5080">
            <a:solidFill>
              <a:srgbClr val="2D4960">
                <a:alpha val="3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18795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4FBFF"/>
                </a:solidFill>
              </a:rPr>
              <a:t>Mobile clinic dispatch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773168" y="4133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F2A3"/>
                </a:solidFill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93408" y="4133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613648" y="4133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33888" y="4133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68680" y="4992624"/>
            <a:ext cx="10058400" cy="0"/>
          </a:xfrm>
          <a:prstGeom prst="line">
            <a:avLst/>
          </a:prstGeom>
          <a:noFill/>
          <a:ln w="5080">
            <a:solidFill>
              <a:srgbClr val="2D4960">
                <a:alpha val="3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4709160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4FBFF"/>
                </a:solidFill>
              </a:rPr>
              <a:t>Offline / low-bandwidth mode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773168" y="4654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F2A3"/>
                </a:solidFill>
              </a:rPr>
              <a:t>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693408" y="4654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613648" y="4654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5A"/>
                </a:solidFill>
              </a:rPr>
              <a:t>—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533888" y="4654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A3A"/>
                </a:solidFill>
              </a:rPr>
              <a:t>~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607808" y="5394960"/>
            <a:ext cx="2880360" cy="530352"/>
          </a:xfrm>
          <a:prstGeom prst="roundRect">
            <a:avLst>
              <a:gd name="adj" fmla="val 13793"/>
            </a:avLst>
          </a:prstGeom>
          <a:solidFill>
            <a:srgbClr val="083025">
              <a:alpha val="94000"/>
            </a:srgbClr>
          </a:solidFill>
          <a:ln w="10160">
            <a:solidFill>
              <a:srgbClr val="2EF2A3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818120" y="558698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BFF"/>
                </a:solidFill>
              </a:rPr>
              <a:t>Moat: rural workflow, not generic health advice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— BOZOR +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Pilotdan platformaga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Navoiyda boshlaymiz, qishloq birlamchi tibbiy xizmatini o‘lchanadigan screening tarmog‘iga aylantiramiz.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" y="1783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A2234">
              <a:alpha val="94000"/>
            </a:srgbClr>
          </a:solidFill>
          <a:ln w="10160">
            <a:solidFill>
              <a:srgbClr val="18E6FF">
                <a:alpha val="38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19293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37.5M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0976" y="229514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O‘zbekiston aholisi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761488" y="178308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0A2234">
              <a:alpha val="94000"/>
            </a:srgbClr>
          </a:solidFill>
          <a:ln w="10160">
            <a:solidFill>
              <a:srgbClr val="3AF2BE">
                <a:alpha val="38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92938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229514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qishloq aholisi ≈ 18.4M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5047488" y="178308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0A2234">
              <a:alpha val="94000"/>
            </a:srgbClr>
          </a:solidFill>
          <a:ln w="10160">
            <a:solidFill>
              <a:srgbClr val="FFCA3A">
                <a:alpha val="38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92938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~1.03M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229514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Navoiy viloyati pilot bozori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333488" y="178308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0A2234">
              <a:alpha val="94000"/>
            </a:srgbClr>
          </a:solidFill>
          <a:ln w="10160">
            <a:solidFill>
              <a:srgbClr val="8C7CFF">
                <a:alpha val="38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192938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20 000 so‘m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0" y="229514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a’zo / oy · B2B SaaS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786384" y="3127248"/>
            <a:ext cx="4754880" cy="1792224"/>
          </a:xfrm>
          <a:prstGeom prst="roundRect">
            <a:avLst>
              <a:gd name="adj" fmla="val 4082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18E6FF">
                <a:alpha val="4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0704" y="34015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LADDER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1078992" y="3858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BFF"/>
                </a:solidFill>
              </a:rPr>
              <a:t>1 000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4169664"/>
            <a:ext cx="640080" cy="0"/>
          </a:xfrm>
          <a:prstGeom prst="line">
            <a:avLst/>
          </a:prstGeom>
          <a:noFill/>
          <a:ln w="12700">
            <a:solidFill>
              <a:srgbClr val="18E6FF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3708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F2BE"/>
                </a:solidFill>
              </a:rPr>
              <a:t>20 mln / oy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96312" y="3858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BFF"/>
                </a:solidFill>
              </a:rPr>
              <a:t>10 000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06040" y="4169664"/>
            <a:ext cx="640080" cy="0"/>
          </a:xfrm>
          <a:prstGeom prst="line">
            <a:avLst/>
          </a:prstGeom>
          <a:noFill/>
          <a:ln w="12700">
            <a:solidFill>
              <a:srgbClr val="18E6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0592" y="43708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F2BE"/>
                </a:solidFill>
              </a:rPr>
              <a:t>200 mln / oy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13632" y="3858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BFF"/>
                </a:solidFill>
              </a:rPr>
              <a:t>50 000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23360" y="4169664"/>
            <a:ext cx="640080" cy="0"/>
          </a:xfrm>
          <a:prstGeom prst="line">
            <a:avLst/>
          </a:prstGeom>
          <a:noFill/>
          <a:ln w="12700">
            <a:solidFill>
              <a:srgbClr val="18E6FF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67912" y="43708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F2BE"/>
                </a:solidFill>
              </a:rPr>
              <a:t>1 mlrd / oy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61888" y="3127248"/>
            <a:ext cx="4251960" cy="1792224"/>
          </a:xfrm>
          <a:prstGeom prst="roundRect">
            <a:avLst>
              <a:gd name="adj" fmla="val 4082"/>
            </a:avLst>
          </a:prstGeom>
          <a:solidFill>
            <a:srgbClr val="092234">
              <a:alpha val="94000"/>
            </a:srgbClr>
          </a:solidFill>
          <a:ln w="10160">
            <a:solidFill>
              <a:srgbClr val="3AF2BE">
                <a:alpha val="4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36208" y="34015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3AF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PAYS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236208" y="380390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BFF"/>
                </a:solidFill>
              </a:rPr>
              <a:t>Davlat sog‘liqni saqlash tizimi · klinikalar · mobil klinika operatorlari · sug‘urta kompaniyalari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36208" y="44074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7BED0"/>
                </a:solidFill>
              </a:rPr>
              <a:t>Qo‘shimcha: device kit, deployment, support va hududiy dashboard.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22960" y="557784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7BED0"/>
                </a:solidFill>
              </a:rPr>
              <a:t>Model demo hisob-kitoblarga asoslangan; pilotda klinik va operatsion KPIlar validatsiya qilinadi.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— PILOT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kunda isbotlanadigan natija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Hackathon’dan keyingi maqsad: 1–2 tuman, 1 000+ screening, klinik xavfsizlik validatsiyasi.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4672" y="178308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0B2A3E">
              <a:alpha val="94000"/>
            </a:srgbClr>
          </a:solidFill>
          <a:ln w="10160">
            <a:solidFill>
              <a:srgbClr val="18E6FF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05840" y="197510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8E6FF">
              <a:alpha val="16000"/>
            </a:srgbClr>
          </a:solidFill>
          <a:ln w="8890">
            <a:solidFill>
              <a:srgbClr val="18E6F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2075688"/>
            <a:ext cx="539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Bugun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3408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4FBFF"/>
                </a:solidFill>
              </a:rPr>
              <a:t>Hackathon MVP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6791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Scan, 3D Twin, AI triage, Navoiy map, dispatch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999232" y="2404872"/>
            <a:ext cx="292608" cy="0"/>
          </a:xfrm>
          <a:prstGeom prst="line">
            <a:avLst/>
          </a:prstGeom>
          <a:noFill/>
          <a:ln w="1397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10712" y="178308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3AF2B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11880" y="197510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3AF2BE">
              <a:alpha val="16000"/>
            </a:srgbClr>
          </a:solidFill>
          <a:ln w="8890">
            <a:solidFill>
              <a:srgbClr val="3AF2BE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75888" y="2075688"/>
            <a:ext cx="539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oy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3408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4FBFF"/>
                </a:solidFill>
              </a:rPr>
              <a:t>Pilot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26791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1–2 tuman, patronaj hamshiralar, 1 000+ screening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05272" y="2404872"/>
            <a:ext cx="292608" cy="0"/>
          </a:xfrm>
          <a:prstGeom prst="line">
            <a:avLst/>
          </a:prstGeom>
          <a:noFill/>
          <a:ln w="1397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016752" y="178308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3AF2B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17920" y="197510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3AF2BE">
              <a:alpha val="16000"/>
            </a:srgbClr>
          </a:solidFill>
          <a:ln w="8890">
            <a:solidFill>
              <a:srgbClr val="3AF2BE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81928" y="2075688"/>
            <a:ext cx="539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oy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3408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4FBFF"/>
                </a:solidFill>
              </a:rPr>
              <a:t>Scale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26791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10 000+ screening, mobile clinic integration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211312" y="2404872"/>
            <a:ext cx="292608" cy="0"/>
          </a:xfrm>
          <a:prstGeom prst="line">
            <a:avLst/>
          </a:prstGeom>
          <a:noFill/>
          <a:ln w="13970">
            <a:solidFill>
              <a:srgbClr val="18E6FF">
                <a:alpha val="5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622792" y="178308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061D2D">
              <a:alpha val="94000"/>
            </a:srgbClr>
          </a:solidFill>
          <a:ln w="10160">
            <a:solidFill>
              <a:srgbClr val="3AF2B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823960" y="197510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3AF2BE">
              <a:alpha val="16000"/>
            </a:srgbClr>
          </a:solidFill>
          <a:ln w="8890">
            <a:solidFill>
              <a:srgbClr val="3AF2BE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887968" y="2075688"/>
            <a:ext cx="539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yil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23408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4FBFF"/>
                </a:solidFill>
              </a:rPr>
              <a:t>Platform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23960" y="26791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7BED0"/>
                </a:solidFill>
              </a:rPr>
              <a:t>O‘zbekiston rural health intelligence network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4672" y="3767328"/>
            <a:ext cx="4901184" cy="1444752"/>
          </a:xfrm>
          <a:prstGeom prst="roundRect">
            <a:avLst>
              <a:gd name="adj" fmla="val 5063"/>
            </a:avLst>
          </a:prstGeom>
          <a:solidFill>
            <a:srgbClr val="081F31">
              <a:alpha val="94000"/>
            </a:srgbClr>
          </a:solidFill>
          <a:ln w="10160">
            <a:solidFill>
              <a:srgbClr val="18E6FF">
                <a:alpha val="4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60704" y="40233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00" b="1">
                <a:solidFill>
                  <a:srgbClr val="18E6FF"/>
                </a:solidFill>
              </a:rPr>
              <a:t>PILOT KPI</a:t>
            </a:r>
          </a:p>
        </p:txBody>
      </p:sp>
      <p:sp>
        <p:nvSpPr>
          <p:cNvPr id="30" name="Text 28"/>
          <p:cNvSpPr/>
          <p:nvPr/>
        </p:nvSpPr>
        <p:spPr>
          <a:xfrm>
            <a:off x="1060704" y="43434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100">
                <a:solidFill>
                  <a:srgbClr val="F4FBFF"/>
                </a:solidFill>
              </a:rPr>
              <a:t>• 1 000+ screening / 90 days</a:t>
            </a:r>
            <a:endParaRPr lang="en-US" sz="880" dirty="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4FBFF"/>
                </a:solidFill>
              </a:rPr>
              <a:t>• RED/YELLOW → clinician escalation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4FBFF"/>
                </a:solidFill>
              </a:rPr>
              <a:t>• Clinical brief for every high-risk case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4FBFF"/>
                </a:solidFill>
              </a:rPr>
              <a:t>• Safety + signal quality validation</a:t>
            </a:r>
          </a:p>
        </p:txBody>
      </p:sp>
      <p:sp>
        <p:nvSpPr>
          <p:cNvPr id="31" name="Shape 29"/>
          <p:cNvSpPr/>
          <p:nvPr/>
        </p:nvSpPr>
        <p:spPr>
          <a:xfrm>
            <a:off x="6199632" y="3767328"/>
            <a:ext cx="4389120" cy="1444752"/>
          </a:xfrm>
          <a:prstGeom prst="roundRect">
            <a:avLst>
              <a:gd name="adj" fmla="val 5063"/>
            </a:avLst>
          </a:prstGeom>
          <a:solidFill>
            <a:srgbClr val="0B251F">
              <a:alpha val="94000"/>
            </a:srgbClr>
          </a:solidFill>
          <a:ln w="10160">
            <a:solidFill>
              <a:srgbClr val="2EF2A3">
                <a:alpha val="48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55664" y="40233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2EF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6455664" y="4343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BFF"/>
                </a:solidFill>
              </a:rPr>
              <a:t>Pilot hududi + klinik hamkor + real field test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4754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A7BED0"/>
                </a:solidFill>
              </a:rPr>
              <a:t>Maqsad: qishloq bemorini navbatda yo‘qotmaslik.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822960" y="57972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MedTwin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2971800" y="5943600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E6FF"/>
                </a:solidFill>
              </a:rPr>
              <a:t>AI Diagnostic &amp; Triage Network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8E6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48640" y="6556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MedTwin · AI Diagnostic &amp; Triage Network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10835640" y="6556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7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yberpunk_tech_lab_scene_a_dark_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eft_readability_overlay"/>
          <p:cNvSpPr/>
          <p:nvPr/>
        </p:nvSpPr>
        <p:spPr>
          <a:xfrm>
            <a:off x="22860" y="109728"/>
            <a:ext cx="5989320" cy="6858000"/>
          </a:xfrm>
          <a:prstGeom prst="rect">
            <a:avLst/>
          </a:prstGeom>
          <a:solidFill>
            <a:srgbClr val="04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badge_bg"/>
          <p:cNvSpPr/>
          <p:nvPr/>
        </p:nvSpPr>
        <p:spPr>
          <a:xfrm>
            <a:off x="384048" y="329184"/>
            <a:ext cx="1051560" cy="201168"/>
          </a:xfrm>
          <a:prstGeom prst="roundRect">
            <a:avLst/>
          </a:prstGeom>
          <a:solidFill>
            <a:srgbClr val="03414E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ction_badge"/>
          <p:cNvSpPr txBox="1"/>
          <p:nvPr/>
        </p:nvSpPr>
        <p:spPr>
          <a:xfrm>
            <a:off x="486918" y="3834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650" b="1">
                <a:solidFill>
                  <a:srgbClr val="00E5FF"/>
                </a:solidFill>
                <a:latin typeface="Aptos"/>
              </a:rPr>
              <a:t>11 — TEAM</a:t>
            </a:r>
          </a:p>
        </p:txBody>
      </p:sp>
      <p:sp>
        <p:nvSpPr>
          <p:cNvPr id="6" name="mission_badge_bg"/>
          <p:cNvSpPr/>
          <p:nvPr/>
        </p:nvSpPr>
        <p:spPr>
          <a:xfrm>
            <a:off x="1572768" y="329184"/>
            <a:ext cx="1170432" cy="201168"/>
          </a:xfrm>
          <a:prstGeom prst="roundRect">
            <a:avLst/>
          </a:prstGeom>
          <a:solidFill>
            <a:srgbClr val="04362A"/>
          </a:solidFill>
          <a:ln w="952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ission_badge"/>
          <p:cNvSpPr txBox="1"/>
          <p:nvPr/>
        </p:nvSpPr>
        <p:spPr>
          <a:xfrm>
            <a:off x="1675638" y="383476"/>
            <a:ext cx="960120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650" b="1" dirty="0">
                <a:solidFill>
                  <a:srgbClr val="16FF9B"/>
                </a:solidFill>
                <a:latin typeface="Aptos"/>
              </a:rPr>
              <a:t>BUILT TO PILOT</a:t>
            </a:r>
          </a:p>
        </p:txBody>
      </p:sp>
      <p:cxnSp>
        <p:nvCxnSpPr>
          <p:cNvPr id="8" name="title_accent"/>
          <p:cNvCxnSpPr/>
          <p:nvPr/>
        </p:nvCxnSpPr>
        <p:spPr>
          <a:xfrm>
            <a:off x="402336" y="621792"/>
            <a:ext cx="2523744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"/>
          <p:cNvSpPr txBox="1"/>
          <p:nvPr/>
        </p:nvSpPr>
        <p:spPr>
          <a:xfrm>
            <a:off x="384048" y="749808"/>
            <a:ext cx="5303520" cy="658368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pPr algn="l"/>
            <a:r>
              <a:rPr sz="2900" b="1">
                <a:solidFill>
                  <a:srgbClr val="F5FBFF"/>
                </a:solidFill>
                <a:latin typeface="Aptos"/>
              </a:rPr>
              <a:t>Jamoa: klinik xavfsizlik + AI product + pilot execution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02336" y="1554480"/>
            <a:ext cx="5166360" cy="411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250" b="0">
                <a:solidFill>
                  <a:srgbClr val="97B3C0"/>
                </a:solidFill>
                <a:latin typeface="Aptos"/>
              </a:rPr>
              <a:t>Hackathon MVP faqat demo emas — real Navoiy pilotiga chiqish uchun kerakli rollar bir jamoada yig‘ilgan.</a:t>
            </a:r>
          </a:p>
        </p:txBody>
      </p:sp>
      <p:sp>
        <p:nvSpPr>
          <p:cNvPr id="11" name="card_1"/>
          <p:cNvSpPr/>
          <p:nvPr/>
        </p:nvSpPr>
        <p:spPr>
          <a:xfrm>
            <a:off x="402336" y="2121408"/>
            <a:ext cx="5230368" cy="566928"/>
          </a:xfrm>
          <a:prstGeom prst="roundRect">
            <a:avLst/>
          </a:prstGeom>
          <a:solidFill>
            <a:srgbClr val="082637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vatar_1"/>
          <p:cNvSpPr/>
          <p:nvPr/>
        </p:nvSpPr>
        <p:spPr>
          <a:xfrm>
            <a:off x="603504" y="2258568"/>
            <a:ext cx="310896" cy="31089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882" t="-17155" r="-30882" b="-24021"/>
            </a:stretch>
          </a:blip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750" b="1" dirty="0">
              <a:solidFill>
                <a:srgbClr val="00E5FF"/>
              </a:solidFill>
              <a:latin typeface="Aptos"/>
            </a:endParaRPr>
          </a:p>
        </p:txBody>
      </p:sp>
      <p:sp>
        <p:nvSpPr>
          <p:cNvPr id="13" name="name_1"/>
          <p:cNvSpPr txBox="1"/>
          <p:nvPr/>
        </p:nvSpPr>
        <p:spPr>
          <a:xfrm>
            <a:off x="1024128" y="2212848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50" b="1">
                <a:solidFill>
                  <a:srgbClr val="F5FBFF"/>
                </a:solidFill>
                <a:latin typeface="Aptos"/>
              </a:rPr>
              <a:t>Sardorbek Sirojov</a:t>
            </a:r>
          </a:p>
        </p:txBody>
      </p:sp>
      <p:sp>
        <p:nvSpPr>
          <p:cNvPr id="14" name="role_1"/>
          <p:cNvSpPr txBox="1"/>
          <p:nvPr/>
        </p:nvSpPr>
        <p:spPr>
          <a:xfrm>
            <a:off x="3063240" y="2221991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850" b="1">
                <a:solidFill>
                  <a:srgbClr val="00E5FF"/>
                </a:solidFill>
                <a:latin typeface="Aptos"/>
              </a:rPr>
              <a:t>CEO / Product Lead</a:t>
            </a:r>
          </a:p>
        </p:txBody>
      </p:sp>
      <p:sp>
        <p:nvSpPr>
          <p:cNvPr id="15" name="desc_1"/>
          <p:cNvSpPr txBox="1"/>
          <p:nvPr/>
        </p:nvSpPr>
        <p:spPr>
          <a:xfrm>
            <a:off x="1024128" y="2432303"/>
            <a:ext cx="4315968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20" b="0">
                <a:solidFill>
                  <a:srgbClr val="97B3C0"/>
                </a:solidFill>
                <a:latin typeface="Aptos"/>
              </a:rPr>
              <a:t>Mahsulot strategiyasi · investor pitch · pilot vision</a:t>
            </a:r>
          </a:p>
        </p:txBody>
      </p:sp>
      <p:sp>
        <p:nvSpPr>
          <p:cNvPr id="16" name="card_2"/>
          <p:cNvSpPr/>
          <p:nvPr/>
        </p:nvSpPr>
        <p:spPr>
          <a:xfrm>
            <a:off x="402336" y="2843784"/>
            <a:ext cx="5230368" cy="566928"/>
          </a:xfrm>
          <a:prstGeom prst="roundRect">
            <a:avLst/>
          </a:prstGeom>
          <a:solidFill>
            <a:srgbClr val="083A3D"/>
          </a:solidFill>
          <a:ln w="952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vatar_2"/>
          <p:cNvSpPr/>
          <p:nvPr/>
        </p:nvSpPr>
        <p:spPr>
          <a:xfrm>
            <a:off x="603504" y="2980944"/>
            <a:ext cx="310896" cy="310896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9412"/>
            </a:stretch>
          </a:blipFill>
          <a:ln w="15240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750" b="1" dirty="0">
              <a:solidFill>
                <a:srgbClr val="16FF9B"/>
              </a:solidFill>
              <a:latin typeface="Aptos"/>
            </a:endParaRPr>
          </a:p>
        </p:txBody>
      </p:sp>
      <p:sp>
        <p:nvSpPr>
          <p:cNvPr id="18" name="name_2"/>
          <p:cNvSpPr txBox="1"/>
          <p:nvPr/>
        </p:nvSpPr>
        <p:spPr>
          <a:xfrm>
            <a:off x="1024128" y="2935224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50" b="1">
                <a:solidFill>
                  <a:srgbClr val="F5FBFF"/>
                </a:solidFill>
                <a:latin typeface="Aptos"/>
              </a:rPr>
              <a:t>Sardor Soliyev</a:t>
            </a:r>
          </a:p>
        </p:txBody>
      </p:sp>
      <p:sp>
        <p:nvSpPr>
          <p:cNvPr id="19" name="role_2"/>
          <p:cNvSpPr txBox="1"/>
          <p:nvPr/>
        </p:nvSpPr>
        <p:spPr>
          <a:xfrm>
            <a:off x="3063240" y="2944368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850" b="1">
                <a:solidFill>
                  <a:srgbClr val="16FF9B"/>
                </a:solidFill>
                <a:latin typeface="Aptos"/>
              </a:rPr>
              <a:t>AI / Backend Engineer</a:t>
            </a:r>
          </a:p>
        </p:txBody>
      </p:sp>
      <p:sp>
        <p:nvSpPr>
          <p:cNvPr id="20" name="desc_2"/>
          <p:cNvSpPr txBox="1"/>
          <p:nvPr/>
        </p:nvSpPr>
        <p:spPr>
          <a:xfrm>
            <a:off x="1024128" y="3154679"/>
            <a:ext cx="4315968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20" b="0">
                <a:solidFill>
                  <a:srgbClr val="97B3C0"/>
                </a:solidFill>
                <a:latin typeface="Aptos"/>
              </a:rPr>
              <a:t>Triage logic · API · data pipeline · model infrastructure</a:t>
            </a:r>
          </a:p>
        </p:txBody>
      </p:sp>
      <p:sp>
        <p:nvSpPr>
          <p:cNvPr id="21" name="card_3"/>
          <p:cNvSpPr/>
          <p:nvPr/>
        </p:nvSpPr>
        <p:spPr>
          <a:xfrm>
            <a:off x="402336" y="3566160"/>
            <a:ext cx="5230368" cy="566928"/>
          </a:xfrm>
          <a:prstGeom prst="roundRect">
            <a:avLst/>
          </a:prstGeom>
          <a:solidFill>
            <a:srgbClr val="082637"/>
          </a:solidFill>
          <a:ln w="952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vatar_3"/>
          <p:cNvSpPr/>
          <p:nvPr/>
        </p:nvSpPr>
        <p:spPr>
          <a:xfrm>
            <a:off x="603504" y="3703320"/>
            <a:ext cx="310896" cy="310896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23" r="-20588" b="-29412"/>
            </a:stretch>
          </a:blipFill>
          <a:ln w="1524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750" b="1" dirty="0">
              <a:solidFill>
                <a:srgbClr val="7C5CFF"/>
              </a:solidFill>
              <a:latin typeface="Aptos"/>
            </a:endParaRPr>
          </a:p>
        </p:txBody>
      </p:sp>
      <p:sp>
        <p:nvSpPr>
          <p:cNvPr id="23" name="name_3"/>
          <p:cNvSpPr txBox="1"/>
          <p:nvPr/>
        </p:nvSpPr>
        <p:spPr>
          <a:xfrm>
            <a:off x="1024128" y="3657600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50" b="1">
                <a:solidFill>
                  <a:srgbClr val="F5FBFF"/>
                </a:solidFill>
                <a:latin typeface="Aptos"/>
              </a:rPr>
              <a:t>Muhammadjon Kenjayev</a:t>
            </a:r>
          </a:p>
        </p:txBody>
      </p:sp>
      <p:sp>
        <p:nvSpPr>
          <p:cNvPr id="24" name="role_3"/>
          <p:cNvSpPr txBox="1"/>
          <p:nvPr/>
        </p:nvSpPr>
        <p:spPr>
          <a:xfrm>
            <a:off x="3063240" y="366674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850" b="1">
                <a:solidFill>
                  <a:srgbClr val="7C5CFF"/>
                </a:solidFill>
                <a:latin typeface="Aptos"/>
              </a:rPr>
              <a:t>Frontend / 3D Engineer</a:t>
            </a:r>
          </a:p>
        </p:txBody>
      </p:sp>
      <p:sp>
        <p:nvSpPr>
          <p:cNvPr id="25" name="desc_3"/>
          <p:cNvSpPr txBox="1"/>
          <p:nvPr/>
        </p:nvSpPr>
        <p:spPr>
          <a:xfrm>
            <a:off x="1024128" y="3877056"/>
            <a:ext cx="4315968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20" b="0">
                <a:solidFill>
                  <a:srgbClr val="97B3C0"/>
                </a:solidFill>
                <a:latin typeface="Aptos"/>
              </a:rPr>
              <a:t>Scan UI · Digital Twin · map dispatch interface</a:t>
            </a:r>
          </a:p>
        </p:txBody>
      </p:sp>
      <p:sp>
        <p:nvSpPr>
          <p:cNvPr id="26" name="card_4"/>
          <p:cNvSpPr/>
          <p:nvPr/>
        </p:nvSpPr>
        <p:spPr>
          <a:xfrm>
            <a:off x="402336" y="4288536"/>
            <a:ext cx="5230368" cy="566928"/>
          </a:xfrm>
          <a:prstGeom prst="roundRect">
            <a:avLst/>
          </a:prstGeom>
          <a:solidFill>
            <a:srgbClr val="083A3D"/>
          </a:solidFill>
          <a:ln w="9525">
            <a:solidFill>
              <a:srgbClr val="FF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vatar_4"/>
          <p:cNvSpPr/>
          <p:nvPr/>
        </p:nvSpPr>
        <p:spPr>
          <a:xfrm>
            <a:off x="603504" y="4425696"/>
            <a:ext cx="310896" cy="310896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50000"/>
            </a:stretch>
          </a:blipFill>
          <a:ln w="15240">
            <a:solidFill>
              <a:srgbClr val="FF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750" b="1" dirty="0">
              <a:blipFill dpi="0"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Aptos"/>
            </a:endParaRPr>
          </a:p>
        </p:txBody>
      </p:sp>
      <p:sp>
        <p:nvSpPr>
          <p:cNvPr id="28" name="name_4"/>
          <p:cNvSpPr txBox="1"/>
          <p:nvPr/>
        </p:nvSpPr>
        <p:spPr>
          <a:xfrm>
            <a:off x="1024128" y="4379975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50" b="1">
                <a:solidFill>
                  <a:srgbClr val="F5FBFF"/>
                </a:solidFill>
                <a:latin typeface="Aptos"/>
              </a:rPr>
              <a:t>Shahnozabonu Sirojova</a:t>
            </a:r>
          </a:p>
        </p:txBody>
      </p:sp>
      <p:sp>
        <p:nvSpPr>
          <p:cNvPr id="29" name="role_4"/>
          <p:cNvSpPr txBox="1"/>
          <p:nvPr/>
        </p:nvSpPr>
        <p:spPr>
          <a:xfrm>
            <a:off x="3063240" y="43891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850" b="1">
                <a:solidFill>
                  <a:srgbClr val="FF4E6A"/>
                </a:solidFill>
                <a:latin typeface="Aptos"/>
              </a:rPr>
              <a:t>Medical Advisor</a:t>
            </a:r>
          </a:p>
        </p:txBody>
      </p:sp>
      <p:sp>
        <p:nvSpPr>
          <p:cNvPr id="30" name="desc_4"/>
          <p:cNvSpPr txBox="1"/>
          <p:nvPr/>
        </p:nvSpPr>
        <p:spPr>
          <a:xfrm>
            <a:off x="1024128" y="4599431"/>
            <a:ext cx="4315968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20" b="0">
                <a:solidFill>
                  <a:srgbClr val="97B3C0"/>
                </a:solidFill>
                <a:latin typeface="Aptos"/>
              </a:rPr>
              <a:t>Klinik xavfsizlik · triage protokollari · patient risk review</a:t>
            </a:r>
          </a:p>
        </p:txBody>
      </p:sp>
      <p:sp>
        <p:nvSpPr>
          <p:cNvPr id="31" name="card_5"/>
          <p:cNvSpPr/>
          <p:nvPr/>
        </p:nvSpPr>
        <p:spPr>
          <a:xfrm>
            <a:off x="402336" y="5010912"/>
            <a:ext cx="5230368" cy="566928"/>
          </a:xfrm>
          <a:prstGeom prst="roundRect">
            <a:avLst/>
          </a:prstGeom>
          <a:solidFill>
            <a:srgbClr val="082637"/>
          </a:solidFill>
          <a:ln w="9525">
            <a:solidFill>
              <a:srgbClr val="FFC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vatar_5"/>
          <p:cNvSpPr/>
          <p:nvPr/>
        </p:nvSpPr>
        <p:spPr>
          <a:xfrm>
            <a:off x="603504" y="5148072"/>
            <a:ext cx="310896" cy="310896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1177" t="-113967" r="-99631" b="-197059"/>
            </a:stretch>
          </a:blipFill>
          <a:ln w="15240">
            <a:solidFill>
              <a:srgbClr val="FFC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750" b="1" dirty="0">
              <a:solidFill>
                <a:srgbClr val="FFCF4F"/>
              </a:solidFill>
              <a:latin typeface="Aptos"/>
            </a:endParaRPr>
          </a:p>
        </p:txBody>
      </p:sp>
      <p:sp>
        <p:nvSpPr>
          <p:cNvPr id="33" name="name_5"/>
          <p:cNvSpPr txBox="1"/>
          <p:nvPr/>
        </p:nvSpPr>
        <p:spPr>
          <a:xfrm>
            <a:off x="1024128" y="5102352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50" b="1">
                <a:solidFill>
                  <a:srgbClr val="F5FBFF"/>
                </a:solidFill>
                <a:latin typeface="Aptos"/>
              </a:rPr>
              <a:t>Abdulaziz Zaripov</a:t>
            </a:r>
          </a:p>
        </p:txBody>
      </p:sp>
      <p:sp>
        <p:nvSpPr>
          <p:cNvPr id="34" name="role_5"/>
          <p:cNvSpPr txBox="1"/>
          <p:nvPr/>
        </p:nvSpPr>
        <p:spPr>
          <a:xfrm>
            <a:off x="3063240" y="511149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850" b="1">
                <a:solidFill>
                  <a:srgbClr val="FFCF4F"/>
                </a:solidFill>
                <a:latin typeface="Aptos"/>
              </a:rPr>
              <a:t>Business / Pilot Manager</a:t>
            </a:r>
          </a:p>
        </p:txBody>
      </p:sp>
      <p:sp>
        <p:nvSpPr>
          <p:cNvPr id="35" name="desc_5"/>
          <p:cNvSpPr txBox="1"/>
          <p:nvPr/>
        </p:nvSpPr>
        <p:spPr>
          <a:xfrm>
            <a:off x="1024128" y="5321808"/>
            <a:ext cx="4315968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20" b="0">
                <a:solidFill>
                  <a:srgbClr val="97B3C0"/>
                </a:solidFill>
                <a:latin typeface="Aptos"/>
              </a:rPr>
              <a:t>Hamkorliklar · tuman pilotlari · field operations</a:t>
            </a:r>
          </a:p>
        </p:txBody>
      </p:sp>
      <p:sp>
        <p:nvSpPr>
          <p:cNvPr id="36" name="bottom_callout"/>
          <p:cNvSpPr/>
          <p:nvPr/>
        </p:nvSpPr>
        <p:spPr>
          <a:xfrm>
            <a:off x="402336" y="5806440"/>
            <a:ext cx="5230368" cy="530352"/>
          </a:xfrm>
          <a:prstGeom prst="roundRect">
            <a:avLst/>
          </a:prstGeom>
          <a:solidFill>
            <a:srgbClr val="04392D"/>
          </a:solidFill>
          <a:ln w="952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dge_text"/>
          <p:cNvSpPr txBox="1"/>
          <p:nvPr/>
        </p:nvSpPr>
        <p:spPr>
          <a:xfrm>
            <a:off x="630936" y="5952744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50" b="1">
                <a:solidFill>
                  <a:srgbClr val="16FF9B"/>
                </a:solidFill>
                <a:latin typeface="Aptos"/>
              </a:rPr>
              <a:t>Edge: product tezligi + klinik ehtiyotkorlik + joyida pilot hamkorliklari</a:t>
            </a:r>
          </a:p>
        </p:txBody>
      </p:sp>
      <p:sp>
        <p:nvSpPr>
          <p:cNvPr id="38" name="image_label"/>
          <p:cNvSpPr/>
          <p:nvPr/>
        </p:nvSpPr>
        <p:spPr>
          <a:xfrm>
            <a:off x="7790688" y="566928"/>
            <a:ext cx="2423160" cy="402336"/>
          </a:xfrm>
          <a:prstGeom prst="roundRect">
            <a:avLst/>
          </a:prstGeom>
          <a:solidFill>
            <a:srgbClr val="002433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mage_label_text"/>
          <p:cNvSpPr txBox="1"/>
          <p:nvPr/>
        </p:nvSpPr>
        <p:spPr>
          <a:xfrm>
            <a:off x="8001000" y="694944"/>
            <a:ext cx="2011680" cy="1097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720" b="1">
                <a:solidFill>
                  <a:srgbClr val="00E5FF"/>
                </a:solidFill>
                <a:latin typeface="Aptos"/>
              </a:rPr>
              <a:t>TEAM OPERATING SYSTEM</a:t>
            </a:r>
          </a:p>
        </p:txBody>
      </p:sp>
      <p:sp>
        <p:nvSpPr>
          <p:cNvPr id="40" name="image_caption"/>
          <p:cNvSpPr/>
          <p:nvPr/>
        </p:nvSpPr>
        <p:spPr>
          <a:xfrm>
            <a:off x="8339327" y="5696712"/>
            <a:ext cx="2743200" cy="566928"/>
          </a:xfrm>
          <a:prstGeom prst="roundRect">
            <a:avLst/>
          </a:prstGeom>
          <a:solidFill>
            <a:srgbClr val="001922"/>
          </a:solidFill>
          <a:ln w="952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mage_caption_text"/>
          <p:cNvSpPr txBox="1"/>
          <p:nvPr/>
        </p:nvSpPr>
        <p:spPr>
          <a:xfrm>
            <a:off x="8549640" y="5861304"/>
            <a:ext cx="2331720" cy="173736"/>
          </a:xfrm>
          <a:prstGeom prst="rect">
            <a:avLst/>
          </a:prstGeom>
          <a:noFill/>
        </p:spPr>
        <p:txBody>
          <a:bodyPr wrap="square" lIns="0" tIns="0" rIns="0" bIns="0">
            <a:normAutofit fontScale="70000" lnSpcReduction="20000"/>
          </a:bodyPr>
          <a:lstStyle/>
          <a:p>
            <a:pPr algn="ctr"/>
            <a:r>
              <a:rPr sz="880" b="1">
                <a:solidFill>
                  <a:srgbClr val="F5FBFF"/>
                </a:solidFill>
                <a:latin typeface="Aptos"/>
              </a:rPr>
              <a:t>Bir jamoa: screening mahsuloti → AI triage → clinic dispatch → field pilot.</a:t>
            </a:r>
          </a:p>
        </p:txBody>
      </p:sp>
      <p:sp>
        <p:nvSpPr>
          <p:cNvPr id="42" name="footer_left"/>
          <p:cNvSpPr txBox="1"/>
          <p:nvPr/>
        </p:nvSpPr>
        <p:spPr>
          <a:xfrm>
            <a:off x="402336" y="6565392"/>
            <a:ext cx="2560320" cy="1097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520" b="0">
                <a:solidFill>
                  <a:srgbClr val="97B3C0"/>
                </a:solidFill>
                <a:latin typeface="Aptos"/>
              </a:rPr>
              <a:t>MedTwin · AI Diagnostic &amp; Triage Network</a:t>
            </a:r>
          </a:p>
        </p:txBody>
      </p:sp>
      <p:sp>
        <p:nvSpPr>
          <p:cNvPr id="43" name="footer_right"/>
          <p:cNvSpPr txBox="1"/>
          <p:nvPr/>
        </p:nvSpPr>
        <p:spPr>
          <a:xfrm>
            <a:off x="11228832" y="6565392"/>
            <a:ext cx="566928" cy="1097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/>
            <a:r>
              <a:rPr sz="520" b="0">
                <a:solidFill>
                  <a:srgbClr val="97B3C0"/>
                </a:solidFill>
                <a:latin typeface="Aptos"/>
              </a:rPr>
              <a:t>11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inematic_high_detail_scene_at_dusk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eft_readability_overlay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4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title_accent"/>
          <p:cNvCxnSpPr/>
          <p:nvPr/>
        </p:nvCxnSpPr>
        <p:spPr>
          <a:xfrm>
            <a:off x="402336" y="621792"/>
            <a:ext cx="2935224" cy="0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"/>
          <p:cNvSpPr txBox="1"/>
          <p:nvPr/>
        </p:nvSpPr>
        <p:spPr>
          <a:xfrm>
            <a:off x="384048" y="795529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10000"/>
          </a:bodyPr>
          <a:lstStyle/>
          <a:p>
            <a:pPr algn="l"/>
            <a:r>
              <a:rPr sz="2750" b="1" dirty="0" err="1">
                <a:solidFill>
                  <a:srgbClr val="F5FBFF"/>
                </a:solidFill>
                <a:latin typeface="Aptos"/>
              </a:rPr>
              <a:t>Hackathon’dan</a:t>
            </a:r>
            <a:r>
              <a:rPr sz="2750" b="1" dirty="0">
                <a:solidFill>
                  <a:srgbClr val="F5FBFF"/>
                </a:solidFill>
                <a:latin typeface="Aptos"/>
              </a:rPr>
              <a:t> </a:t>
            </a:r>
            <a:r>
              <a:rPr sz="2750" b="1" dirty="0" err="1">
                <a:solidFill>
                  <a:srgbClr val="F5FBFF"/>
                </a:solidFill>
                <a:latin typeface="Aptos"/>
              </a:rPr>
              <a:t>keyingi</a:t>
            </a:r>
            <a:r>
              <a:rPr sz="2750" b="1" dirty="0">
                <a:solidFill>
                  <a:srgbClr val="F5FBFF"/>
                </a:solidFill>
                <a:latin typeface="Aptos"/>
              </a:rPr>
              <a:t> </a:t>
            </a:r>
            <a:r>
              <a:rPr sz="2750" b="1" dirty="0" err="1">
                <a:solidFill>
                  <a:srgbClr val="F5FBFF"/>
                </a:solidFill>
                <a:latin typeface="Aptos"/>
              </a:rPr>
              <a:t>qadam</a:t>
            </a:r>
            <a:r>
              <a:rPr sz="2750" b="1" dirty="0">
                <a:solidFill>
                  <a:srgbClr val="F5FBFF"/>
                </a:solidFill>
                <a:latin typeface="Aptos"/>
              </a:rPr>
              <a:t>: real pilot </a:t>
            </a:r>
            <a:r>
              <a:rPr sz="2750" b="1" dirty="0" err="1">
                <a:solidFill>
                  <a:srgbClr val="F5FBFF"/>
                </a:solidFill>
                <a:latin typeface="Aptos"/>
              </a:rPr>
              <a:t>uchun</a:t>
            </a:r>
            <a:r>
              <a:rPr sz="2750" b="1" dirty="0">
                <a:solidFill>
                  <a:srgbClr val="F5FBFF"/>
                </a:solidFill>
                <a:latin typeface="Aptos"/>
              </a:rPr>
              <a:t> </a:t>
            </a:r>
            <a:r>
              <a:rPr sz="2750" b="1" dirty="0" err="1">
                <a:solidFill>
                  <a:srgbClr val="F5FBFF"/>
                </a:solidFill>
                <a:latin typeface="Aptos"/>
              </a:rPr>
              <a:t>hamkorlar</a:t>
            </a:r>
            <a:r>
              <a:rPr sz="2750" b="1" dirty="0">
                <a:solidFill>
                  <a:srgbClr val="F5FBFF"/>
                </a:solidFill>
                <a:latin typeface="Aptos"/>
              </a:rPr>
              <a:t> </a:t>
            </a:r>
            <a:r>
              <a:rPr sz="2750" b="1" dirty="0" err="1">
                <a:solidFill>
                  <a:srgbClr val="F5FBFF"/>
                </a:solidFill>
                <a:latin typeface="Aptos"/>
              </a:rPr>
              <a:t>qidirmoqdamiz</a:t>
            </a:r>
            <a:endParaRPr sz="2750" b="1" dirty="0">
              <a:solidFill>
                <a:srgbClr val="F5FBFF"/>
              </a:solidFill>
              <a:latin typeface="Aptos"/>
            </a:endParaRPr>
          </a:p>
        </p:txBody>
      </p:sp>
      <p:sp>
        <p:nvSpPr>
          <p:cNvPr id="10" name="subtitle"/>
          <p:cNvSpPr txBox="1"/>
          <p:nvPr/>
        </p:nvSpPr>
        <p:spPr>
          <a:xfrm>
            <a:off x="402336" y="159105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220" b="0" dirty="0" err="1">
                <a:solidFill>
                  <a:srgbClr val="97B3C0"/>
                </a:solidFill>
                <a:latin typeface="Aptos"/>
              </a:rPr>
              <a:t>Bizda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MVP bor. Endi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bizga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Navoiyda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real screening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oqimini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ishga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tushirish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uchun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klinik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,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hududiy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va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strategik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hamkorlar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97B3C0"/>
                </a:solidFill>
                <a:latin typeface="Aptos"/>
              </a:rPr>
              <a:t>kerak</a:t>
            </a:r>
            <a:r>
              <a:rPr sz="1220" b="0" dirty="0">
                <a:solidFill>
                  <a:srgbClr val="97B3C0"/>
                </a:solidFill>
                <a:latin typeface="Aptos"/>
              </a:rPr>
              <a:t>.</a:t>
            </a:r>
          </a:p>
        </p:txBody>
      </p:sp>
      <p:sp>
        <p:nvSpPr>
          <p:cNvPr id="11" name="card_1"/>
          <p:cNvSpPr/>
          <p:nvPr/>
        </p:nvSpPr>
        <p:spPr>
          <a:xfrm>
            <a:off x="402336" y="2176272"/>
            <a:ext cx="5266944" cy="731520"/>
          </a:xfrm>
          <a:prstGeom prst="roundRect">
            <a:avLst/>
          </a:prstGeom>
          <a:solidFill>
            <a:srgbClr val="082637"/>
          </a:solidFill>
          <a:ln w="1079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um_1"/>
          <p:cNvSpPr/>
          <p:nvPr/>
        </p:nvSpPr>
        <p:spPr>
          <a:xfrm>
            <a:off x="603504" y="2340864"/>
            <a:ext cx="365760" cy="365760"/>
          </a:xfrm>
          <a:prstGeom prst="ellipse">
            <a:avLst/>
          </a:prstGeom>
          <a:solidFill>
            <a:srgbClr val="032C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70" b="1">
                <a:solidFill>
                  <a:srgbClr val="00E5FF"/>
                </a:solidFill>
                <a:latin typeface="Aptos"/>
              </a:rPr>
              <a:t>01</a:t>
            </a:r>
          </a:p>
        </p:txBody>
      </p:sp>
      <p:sp>
        <p:nvSpPr>
          <p:cNvPr id="13" name="head_1"/>
          <p:cNvSpPr txBox="1"/>
          <p:nvPr/>
        </p:nvSpPr>
        <p:spPr>
          <a:xfrm>
            <a:off x="1060704" y="2286000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80" b="1">
                <a:solidFill>
                  <a:srgbClr val="F5FBFF"/>
                </a:solidFill>
                <a:latin typeface="Aptos"/>
              </a:rPr>
              <a:t>Pilot partnerlar</a:t>
            </a:r>
          </a:p>
        </p:txBody>
      </p:sp>
      <p:sp>
        <p:nvSpPr>
          <p:cNvPr id="14" name="desc_1"/>
          <p:cNvSpPr txBox="1"/>
          <p:nvPr/>
        </p:nvSpPr>
        <p:spPr>
          <a:xfrm>
            <a:off x="1060704" y="2487168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70" b="0" dirty="0">
                <a:solidFill>
                  <a:srgbClr val="97B3C0"/>
                </a:solidFill>
                <a:latin typeface="Aptos"/>
              </a:rPr>
              <a:t>1–2 tuman,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oilaviy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poliklinika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yoki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mobil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klinika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tarmog‘i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bilan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1 000+ screening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pilotini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 </a:t>
            </a:r>
            <a:r>
              <a:rPr sz="770" b="0" dirty="0" err="1">
                <a:solidFill>
                  <a:srgbClr val="97B3C0"/>
                </a:solidFill>
                <a:latin typeface="Aptos"/>
              </a:rPr>
              <a:t>boshlash</a:t>
            </a:r>
            <a:r>
              <a:rPr sz="770" b="0" dirty="0">
                <a:solidFill>
                  <a:srgbClr val="97B3C0"/>
                </a:solidFill>
                <a:latin typeface="Aptos"/>
              </a:rPr>
              <a:t>.</a:t>
            </a:r>
          </a:p>
        </p:txBody>
      </p:sp>
      <p:sp>
        <p:nvSpPr>
          <p:cNvPr id="15" name="card_2"/>
          <p:cNvSpPr/>
          <p:nvPr/>
        </p:nvSpPr>
        <p:spPr>
          <a:xfrm>
            <a:off x="402336" y="3035808"/>
            <a:ext cx="5266944" cy="731520"/>
          </a:xfrm>
          <a:prstGeom prst="roundRect">
            <a:avLst/>
          </a:prstGeom>
          <a:solidFill>
            <a:srgbClr val="083A3D"/>
          </a:solidFill>
          <a:ln w="1079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um_2"/>
          <p:cNvSpPr/>
          <p:nvPr/>
        </p:nvSpPr>
        <p:spPr>
          <a:xfrm>
            <a:off x="603504" y="3200400"/>
            <a:ext cx="365760" cy="365760"/>
          </a:xfrm>
          <a:prstGeom prst="ellipse">
            <a:avLst/>
          </a:prstGeom>
          <a:solidFill>
            <a:srgbClr val="032C3B"/>
          </a:solidFill>
          <a:ln w="15240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70" b="1">
                <a:solidFill>
                  <a:srgbClr val="16FF9B"/>
                </a:solidFill>
                <a:latin typeface="Aptos"/>
              </a:rPr>
              <a:t>02</a:t>
            </a:r>
          </a:p>
        </p:txBody>
      </p:sp>
      <p:sp>
        <p:nvSpPr>
          <p:cNvPr id="17" name="head_2"/>
          <p:cNvSpPr txBox="1"/>
          <p:nvPr/>
        </p:nvSpPr>
        <p:spPr>
          <a:xfrm>
            <a:off x="1060704" y="314553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80" b="1">
                <a:solidFill>
                  <a:srgbClr val="F5FBFF"/>
                </a:solidFill>
                <a:latin typeface="Aptos"/>
              </a:rPr>
              <a:t>Klinik xavfsizlik</a:t>
            </a:r>
          </a:p>
        </p:txBody>
      </p:sp>
      <p:sp>
        <p:nvSpPr>
          <p:cNvPr id="18" name="desc_2"/>
          <p:cNvSpPr txBox="1"/>
          <p:nvPr/>
        </p:nvSpPr>
        <p:spPr>
          <a:xfrm>
            <a:off x="1060704" y="3346703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70" b="0">
                <a:solidFill>
                  <a:srgbClr val="97B3C0"/>
                </a:solidFill>
                <a:latin typeface="Aptos"/>
              </a:rPr>
              <a:t>Shifokorlar va medical advisorlar bilan triage protokollari, klinik brief va yo‘naltirish oqimini validatsiya qilish.</a:t>
            </a:r>
          </a:p>
        </p:txBody>
      </p:sp>
      <p:sp>
        <p:nvSpPr>
          <p:cNvPr id="19" name="card_3"/>
          <p:cNvSpPr/>
          <p:nvPr/>
        </p:nvSpPr>
        <p:spPr>
          <a:xfrm>
            <a:off x="402336" y="3895344"/>
            <a:ext cx="5266944" cy="731520"/>
          </a:xfrm>
          <a:prstGeom prst="roundRect">
            <a:avLst/>
          </a:prstGeom>
          <a:solidFill>
            <a:srgbClr val="082637"/>
          </a:solidFill>
          <a:ln w="1079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um_3"/>
          <p:cNvSpPr/>
          <p:nvPr/>
        </p:nvSpPr>
        <p:spPr>
          <a:xfrm>
            <a:off x="603504" y="4059935"/>
            <a:ext cx="365760" cy="365760"/>
          </a:xfrm>
          <a:prstGeom prst="ellipse">
            <a:avLst/>
          </a:prstGeom>
          <a:solidFill>
            <a:srgbClr val="032C3B"/>
          </a:solidFill>
          <a:ln w="1524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70" b="1">
                <a:solidFill>
                  <a:srgbClr val="7C5CFF"/>
                </a:solidFill>
                <a:latin typeface="Aptos"/>
              </a:rPr>
              <a:t>03</a:t>
            </a:r>
          </a:p>
        </p:txBody>
      </p:sp>
      <p:sp>
        <p:nvSpPr>
          <p:cNvPr id="21" name="head_3"/>
          <p:cNvSpPr txBox="1"/>
          <p:nvPr/>
        </p:nvSpPr>
        <p:spPr>
          <a:xfrm>
            <a:off x="1060704" y="400507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80" b="1">
                <a:solidFill>
                  <a:srgbClr val="F5FBFF"/>
                </a:solidFill>
                <a:latin typeface="Aptos"/>
              </a:rPr>
              <a:t>Qurilma &amp; infra</a:t>
            </a:r>
          </a:p>
        </p:txBody>
      </p:sp>
      <p:sp>
        <p:nvSpPr>
          <p:cNvPr id="22" name="desc_3"/>
          <p:cNvSpPr txBox="1"/>
          <p:nvPr/>
        </p:nvSpPr>
        <p:spPr>
          <a:xfrm>
            <a:off x="1060704" y="4206240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70" b="0">
                <a:solidFill>
                  <a:srgbClr val="97B3C0"/>
                </a:solidFill>
                <a:latin typeface="Aptos"/>
              </a:rPr>
              <a:t>Health Station, PPG / vitals qurilmalari, bulut yoki hududiy server, internet va deployment support.</a:t>
            </a:r>
          </a:p>
        </p:txBody>
      </p:sp>
      <p:sp>
        <p:nvSpPr>
          <p:cNvPr id="23" name="card_4"/>
          <p:cNvSpPr/>
          <p:nvPr/>
        </p:nvSpPr>
        <p:spPr>
          <a:xfrm>
            <a:off x="402336" y="4754879"/>
            <a:ext cx="5266944" cy="731520"/>
          </a:xfrm>
          <a:prstGeom prst="roundRect">
            <a:avLst/>
          </a:prstGeom>
          <a:solidFill>
            <a:srgbClr val="083A3D"/>
          </a:solidFill>
          <a:ln w="10795">
            <a:solidFill>
              <a:srgbClr val="FFC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um_4"/>
          <p:cNvSpPr/>
          <p:nvPr/>
        </p:nvSpPr>
        <p:spPr>
          <a:xfrm>
            <a:off x="603504" y="4919471"/>
            <a:ext cx="365760" cy="365760"/>
          </a:xfrm>
          <a:prstGeom prst="ellipse">
            <a:avLst/>
          </a:prstGeom>
          <a:solidFill>
            <a:srgbClr val="032C3B"/>
          </a:solidFill>
          <a:ln w="15240">
            <a:solidFill>
              <a:srgbClr val="FFC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70" b="1">
                <a:solidFill>
                  <a:srgbClr val="FFCF4F"/>
                </a:solidFill>
                <a:latin typeface="Aptos"/>
              </a:rPr>
              <a:t>04</a:t>
            </a:r>
          </a:p>
        </p:txBody>
      </p:sp>
      <p:sp>
        <p:nvSpPr>
          <p:cNvPr id="25" name="head_4"/>
          <p:cNvSpPr txBox="1"/>
          <p:nvPr/>
        </p:nvSpPr>
        <p:spPr>
          <a:xfrm>
            <a:off x="1060704" y="4864607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080" b="1">
                <a:solidFill>
                  <a:srgbClr val="F5FBFF"/>
                </a:solidFill>
                <a:latin typeface="Aptos"/>
              </a:rPr>
              <a:t>Grant / investor / ecosystem</a:t>
            </a:r>
          </a:p>
        </p:txBody>
      </p:sp>
      <p:sp>
        <p:nvSpPr>
          <p:cNvPr id="26" name="desc_4"/>
          <p:cNvSpPr txBox="1"/>
          <p:nvPr/>
        </p:nvSpPr>
        <p:spPr>
          <a:xfrm>
            <a:off x="1060704" y="5065775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770" b="0">
                <a:solidFill>
                  <a:srgbClr val="97B3C0"/>
                </a:solidFill>
                <a:latin typeface="Aptos"/>
              </a:rPr>
              <a:t>CSR, grant, accelerator yoki strategik investorlar bilan MVP’dan pilot va kengayish bosqichiga o‘tish.</a:t>
            </a:r>
          </a:p>
        </p:txBody>
      </p:sp>
      <p:sp>
        <p:nvSpPr>
          <p:cNvPr id="27" name="cta_banner"/>
          <p:cNvSpPr/>
          <p:nvPr/>
        </p:nvSpPr>
        <p:spPr>
          <a:xfrm>
            <a:off x="402336" y="5779008"/>
            <a:ext cx="5266944" cy="566928"/>
          </a:xfrm>
          <a:prstGeom prst="roundRect">
            <a:avLst/>
          </a:prstGeom>
          <a:solidFill>
            <a:srgbClr val="04392D"/>
          </a:solidFill>
          <a:ln w="1079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ta_text"/>
          <p:cNvSpPr txBox="1"/>
          <p:nvPr/>
        </p:nvSpPr>
        <p:spPr>
          <a:xfrm>
            <a:off x="621792" y="5934456"/>
            <a:ext cx="4828032" cy="201168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pPr algn="l"/>
            <a:r>
              <a:rPr sz="960" b="1">
                <a:solidFill>
                  <a:srgbClr val="16FF9B"/>
                </a:solidFill>
                <a:latin typeface="Aptos"/>
              </a:rPr>
              <a:t>Agar siz klinika, tuman pilot operatori, sog‘liqni saqlash tashkiloti, device provider yoki investor bo‘lsangiz — MedTwin bilan pilot quraylik.</a:t>
            </a:r>
          </a:p>
        </p:txBody>
      </p:sp>
      <p:sp>
        <p:nvSpPr>
          <p:cNvPr id="31" name="summary_panel"/>
          <p:cNvSpPr/>
          <p:nvPr/>
        </p:nvSpPr>
        <p:spPr>
          <a:xfrm>
            <a:off x="8156448" y="5248656"/>
            <a:ext cx="2907792" cy="1005840"/>
          </a:xfrm>
          <a:prstGeom prst="roundRect">
            <a:avLst/>
          </a:prstGeom>
          <a:solidFill>
            <a:srgbClr val="001922"/>
          </a:solidFill>
          <a:ln w="10795">
            <a:solidFill>
              <a:srgbClr val="16F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ummary_title"/>
          <p:cNvSpPr txBox="1"/>
          <p:nvPr/>
        </p:nvSpPr>
        <p:spPr>
          <a:xfrm>
            <a:off x="8357616" y="5440680"/>
            <a:ext cx="1691640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850" b="1">
                <a:solidFill>
                  <a:srgbClr val="16FF9B"/>
                </a:solidFill>
                <a:latin typeface="Aptos"/>
              </a:rPr>
              <a:t>Biz nimani olib kelamiz</a:t>
            </a:r>
          </a:p>
        </p:txBody>
      </p:sp>
      <p:sp>
        <p:nvSpPr>
          <p:cNvPr id="33" name="summary_body"/>
          <p:cNvSpPr txBox="1"/>
          <p:nvPr/>
        </p:nvSpPr>
        <p:spPr>
          <a:xfrm>
            <a:off x="8357616" y="562356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sz="740" b="0">
                <a:solidFill>
                  <a:srgbClr val="F5FBFF"/>
                </a:solidFill>
                <a:latin typeface="Aptos"/>
              </a:rPr>
              <a:t>• Ishlayotgan MVP
• Rural health use case
• O‘lchanadigan pilot KPI
• Premium product vision</a:t>
            </a:r>
          </a:p>
        </p:txBody>
      </p:sp>
      <p:sp>
        <p:nvSpPr>
          <p:cNvPr id="34" name="footer_left"/>
          <p:cNvSpPr txBox="1"/>
          <p:nvPr/>
        </p:nvSpPr>
        <p:spPr>
          <a:xfrm>
            <a:off x="402336" y="6565392"/>
            <a:ext cx="2560320" cy="1097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520" b="0">
                <a:solidFill>
                  <a:srgbClr val="97B3C0"/>
                </a:solidFill>
                <a:latin typeface="Aptos"/>
              </a:rPr>
              <a:t>MedTwin · AI Diagnostic &amp; Triage Network</a:t>
            </a:r>
          </a:p>
        </p:txBody>
      </p:sp>
      <p:sp>
        <p:nvSpPr>
          <p:cNvPr id="35" name="footer_right"/>
          <p:cNvSpPr txBox="1"/>
          <p:nvPr/>
        </p:nvSpPr>
        <p:spPr>
          <a:xfrm>
            <a:off x="11228832" y="6565392"/>
            <a:ext cx="566928" cy="1097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/>
            <a:r>
              <a:rPr sz="520" b="0">
                <a:solidFill>
                  <a:srgbClr val="97B3C0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1269</Words>
  <Application>Microsoft Macintosh PowerPoint</Application>
  <PresentationFormat>Widescreen</PresentationFormat>
  <Paragraphs>300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MedTwin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MedTwin — AI Diagnostic &amp; Triage Network</dc:title>
  <dc:subject>MedTwin premium hackathon pitch deck</dc:subject>
  <dc:creator>OpenAI</dc:creator>
  <cp:lastModifiedBy>Microsoft Office User</cp:lastModifiedBy>
  <cp:revision>4</cp:revision>
  <dcterms:created xsi:type="dcterms:W3CDTF">2026-08-12T12:11:42Z</dcterms:created>
  <dcterms:modified xsi:type="dcterms:W3CDTF">2026-08-12T12:42:22Z</dcterms:modified>
</cp:coreProperties>
</file>